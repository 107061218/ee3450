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703" r:id="rId4"/>
  </p:sldMasterIdLst>
  <p:notesMasterIdLst>
    <p:notesMasterId r:id="rId9"/>
  </p:notesMasterIdLst>
  <p:handoutMasterIdLst>
    <p:handoutMasterId r:id="rId10"/>
  </p:handoutMasterIdLst>
  <p:sldIdLst>
    <p:sldId id="477" r:id="rId5"/>
    <p:sldId id="481" r:id="rId6"/>
    <p:sldId id="482" r:id="rId7"/>
    <p:sldId id="483" r:id="rId8"/>
  </p:sldIdLst>
  <p:sldSz cx="9144000" cy="6858000" type="screen4x3"/>
  <p:notesSz cx="7099300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009900"/>
    <a:srgbClr val="FF0000"/>
    <a:srgbClr val="CCFFFF"/>
    <a:srgbClr val="66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ACDED1-BAA9-425E-9354-E126A09DB915}" v="1" dt="2021-01-02T13:37:23.570"/>
    <p1510:client id="{5A1189B4-9594-4375-B7CF-84E90E7AE6E8}" v="2" dt="2020-12-29T14:07:05.834"/>
    <p1510:client id="{D34EB79F-751F-4499-A0A0-BD3C7D3BC2F7}" v="1" dt="2021-01-02T07:08:23.2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深色樣式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735" autoAdjust="0"/>
    <p:restoredTop sz="94690" autoAdjust="0"/>
  </p:normalViewPr>
  <p:slideViewPr>
    <p:cSldViewPr snapToObjects="1">
      <p:cViewPr>
        <p:scale>
          <a:sx n="130" d="100"/>
          <a:sy n="130" d="100"/>
        </p:scale>
        <p:origin x="1576" y="-2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許晏誠" userId="S::107061126@office365.nthu.edu.tw::fa0809d9-ccff-483b-9088-4f6261679619" providerId="AD" clId="Web-{D34EB79F-751F-4499-A0A0-BD3C7D3BC2F7}"/>
    <pc:docChg chg="modSld">
      <pc:chgData name="許晏誠" userId="S::107061126@office365.nthu.edu.tw::fa0809d9-ccff-483b-9088-4f6261679619" providerId="AD" clId="Web-{D34EB79F-751F-4499-A0A0-BD3C7D3BC2F7}" dt="2021-01-02T07:08:23.229" v="0"/>
      <pc:docMkLst>
        <pc:docMk/>
      </pc:docMkLst>
      <pc:sldChg chg="modSp">
        <pc:chgData name="許晏誠" userId="S::107061126@office365.nthu.edu.tw::fa0809d9-ccff-483b-9088-4f6261679619" providerId="AD" clId="Web-{D34EB79F-751F-4499-A0A0-BD3C7D3BC2F7}" dt="2021-01-02T07:08:23.229" v="0"/>
        <pc:sldMkLst>
          <pc:docMk/>
          <pc:sldMk cId="3872010007" sldId="483"/>
        </pc:sldMkLst>
        <pc:graphicFrameChg chg="modGraphic">
          <ac:chgData name="許晏誠" userId="S::107061126@office365.nthu.edu.tw::fa0809d9-ccff-483b-9088-4f6261679619" providerId="AD" clId="Web-{D34EB79F-751F-4499-A0A0-BD3C7D3BC2F7}" dt="2021-01-02T07:08:23.229" v="0"/>
          <ac:graphicFrameMkLst>
            <pc:docMk/>
            <pc:sldMk cId="3872010007" sldId="483"/>
            <ac:graphicFrameMk id="58" creationId="{964BD9CD-0581-5B48-A0D0-CD77CEBC29F1}"/>
          </ac:graphicFrameMkLst>
        </pc:graphicFrameChg>
      </pc:sldChg>
    </pc:docChg>
  </pc:docChgLst>
  <pc:docChgLst>
    <pc:chgData name="蘇揚智" userId="S::107061102@office365.nthu.edu.tw::540fbfdc-0690-4046-b56d-0c2857965608" providerId="AD" clId="Web-{5A1189B4-9594-4375-B7CF-84E90E7AE6E8}"/>
    <pc:docChg chg="modSld">
      <pc:chgData name="蘇揚智" userId="S::107061102@office365.nthu.edu.tw::540fbfdc-0690-4046-b56d-0c2857965608" providerId="AD" clId="Web-{5A1189B4-9594-4375-B7CF-84E90E7AE6E8}" dt="2020-12-29T14:07:05.834" v="1"/>
      <pc:docMkLst>
        <pc:docMk/>
      </pc:docMkLst>
      <pc:sldChg chg="modSp">
        <pc:chgData name="蘇揚智" userId="S::107061102@office365.nthu.edu.tw::540fbfdc-0690-4046-b56d-0c2857965608" providerId="AD" clId="Web-{5A1189B4-9594-4375-B7CF-84E90E7AE6E8}" dt="2020-12-29T14:07:05.834" v="1"/>
        <pc:sldMkLst>
          <pc:docMk/>
          <pc:sldMk cId="3529366098" sldId="477"/>
        </pc:sldMkLst>
        <pc:graphicFrameChg chg="mod modGraphic">
          <ac:chgData name="蘇揚智" userId="S::107061102@office365.nthu.edu.tw::540fbfdc-0690-4046-b56d-0c2857965608" providerId="AD" clId="Web-{5A1189B4-9594-4375-B7CF-84E90E7AE6E8}" dt="2020-12-29T14:07:05.834" v="1"/>
          <ac:graphicFrameMkLst>
            <pc:docMk/>
            <pc:sldMk cId="3529366098" sldId="477"/>
            <ac:graphicFrameMk id="157" creationId="{5A70D0AB-819B-114F-B4B7-6274099A1568}"/>
          </ac:graphicFrameMkLst>
        </pc:graphicFrameChg>
      </pc:sldChg>
    </pc:docChg>
  </pc:docChgLst>
  <pc:docChgLst>
    <pc:chgData name="林蔭澤" userId="S::107061142@office365.nthu.edu.tw::db0c833e-56bc-4e5c-ac89-693d9353bd7a" providerId="AD" clId="Web-{53ACDED1-BAA9-425E-9354-E126A09DB915}"/>
    <pc:docChg chg="modSld">
      <pc:chgData name="林蔭澤" userId="S::107061142@office365.nthu.edu.tw::db0c833e-56bc-4e5c-ac89-693d9353bd7a" providerId="AD" clId="Web-{53ACDED1-BAA9-425E-9354-E126A09DB915}" dt="2021-01-02T13:37:23.570" v="0" actId="1076"/>
      <pc:docMkLst>
        <pc:docMk/>
      </pc:docMkLst>
      <pc:sldChg chg="modSp">
        <pc:chgData name="林蔭澤" userId="S::107061142@office365.nthu.edu.tw::db0c833e-56bc-4e5c-ac89-693d9353bd7a" providerId="AD" clId="Web-{53ACDED1-BAA9-425E-9354-E126A09DB915}" dt="2021-01-02T13:37:23.570" v="0" actId="1076"/>
        <pc:sldMkLst>
          <pc:docMk/>
          <pc:sldMk cId="2242856534" sldId="481"/>
        </pc:sldMkLst>
        <pc:spChg chg="mod">
          <ac:chgData name="林蔭澤" userId="S::107061142@office365.nthu.edu.tw::db0c833e-56bc-4e5c-ac89-693d9353bd7a" providerId="AD" clId="Web-{53ACDED1-BAA9-425E-9354-E126A09DB915}" dt="2021-01-02T13:37:23.570" v="0" actId="1076"/>
          <ac:spMkLst>
            <pc:docMk/>
            <pc:sldMk cId="2242856534" sldId="481"/>
            <ac:spMk id="41" creationId="{BE5B99D8-C165-B04E-83A2-7CD86E1EE2D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54371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75300" y="0"/>
            <a:ext cx="1524000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EF67A87E-D959-2B4E-B5D5-8CE9350B13A5}" type="datetime3">
              <a:rPr lang="en-AU"/>
              <a:pPr>
                <a:defRPr/>
              </a:pPr>
              <a:t>2 January, 2021</a:t>
            </a:fld>
            <a:endParaRPr lang="en-AU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54371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AU"/>
              <a:t>Chapter 5 — Large and Fast: Exploiting Memory Hierarchy</a:t>
            </a:r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75300" y="9723438"/>
            <a:ext cx="1524000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fld id="{351E598C-01A4-1248-839E-B333CF5222B2}" type="slidenum">
              <a:rPr lang="en-AU" altLang="x-none"/>
              <a:pPr/>
              <a:t>‹#›</a:t>
            </a:fld>
            <a:endParaRPr lang="en-AU" altLang="x-non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2940A748-F47E-7046-AF4F-F637DF1D4622}" type="datetime3">
              <a:rPr lang="en-AU"/>
              <a:pPr>
                <a:defRPr/>
              </a:pPr>
              <a:t>2 January, 2021</a:t>
            </a:fld>
            <a:endParaRPr lang="en-AU"/>
          </a:p>
        </p:txBody>
      </p:sp>
      <p:sp>
        <p:nvSpPr>
          <p:cNvPr id="1105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2513"/>
            <a:ext cx="5207000" cy="460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AU"/>
              <a:t>Chapter 5 — Large and Fast: Exploiting Memory Hierarchy</a:t>
            </a:r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fld id="{FB5FA2C7-BCDA-764A-B229-1F2D67C852BA}" type="slidenum">
              <a:rPr lang="en-AU" altLang="x-none"/>
              <a:pPr/>
              <a:t>‹#›</a:t>
            </a:fld>
            <a:endParaRPr lang="en-AU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頁首版面配置區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2940A748-F47E-7046-AF4F-F637DF1D4622}" type="datetime3">
              <a:rPr lang="en-AU" smtClean="0"/>
              <a:pPr>
                <a:defRPr/>
              </a:pPr>
              <a:t>2 January, 2021</a:t>
            </a:fld>
            <a:endParaRPr lang="en-AU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5 — Large and Fast: Exploiting Memory Hierarchy</a:t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5FA2C7-BCDA-764A-B229-1F2D67C852BA}" type="slidenum">
              <a:rPr lang="en-AU" altLang="x-none" smtClean="0"/>
              <a:pPr/>
              <a:t>1</a:t>
            </a:fld>
            <a:endParaRPr lang="en-AU" altLang="x-none"/>
          </a:p>
        </p:txBody>
      </p:sp>
    </p:spTree>
    <p:extLst>
      <p:ext uri="{BB962C8B-B14F-4D97-AF65-F5344CB8AC3E}">
        <p14:creationId xmlns:p14="http://schemas.microsoft.com/office/powerpoint/2010/main" val="24766046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頁首版面配置區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2940A748-F47E-7046-AF4F-F637DF1D4622}" type="datetime3">
              <a:rPr lang="en-AU" smtClean="0"/>
              <a:pPr>
                <a:defRPr/>
              </a:pPr>
              <a:t>2 January, 2021</a:t>
            </a:fld>
            <a:endParaRPr lang="en-AU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5 — Large and Fast: Exploiting Memory Hierarchy</a:t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5FA2C7-BCDA-764A-B229-1F2D67C852BA}" type="slidenum">
              <a:rPr lang="en-AU" altLang="x-none" smtClean="0"/>
              <a:pPr/>
              <a:t>2</a:t>
            </a:fld>
            <a:endParaRPr lang="en-AU" altLang="x-none"/>
          </a:p>
        </p:txBody>
      </p:sp>
    </p:spTree>
    <p:extLst>
      <p:ext uri="{BB962C8B-B14F-4D97-AF65-F5344CB8AC3E}">
        <p14:creationId xmlns:p14="http://schemas.microsoft.com/office/powerpoint/2010/main" val="16881708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頁首版面配置區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2940A748-F47E-7046-AF4F-F637DF1D4622}" type="datetime3">
              <a:rPr lang="en-AU" smtClean="0"/>
              <a:pPr>
                <a:defRPr/>
              </a:pPr>
              <a:t>2 January, 2021</a:t>
            </a:fld>
            <a:endParaRPr lang="en-AU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5 — Large and Fast: Exploiting Memory Hierarchy</a:t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5FA2C7-BCDA-764A-B229-1F2D67C852BA}" type="slidenum">
              <a:rPr lang="en-AU" altLang="x-none" smtClean="0"/>
              <a:pPr/>
              <a:t>3</a:t>
            </a:fld>
            <a:endParaRPr lang="en-AU" altLang="x-none"/>
          </a:p>
        </p:txBody>
      </p:sp>
    </p:spTree>
    <p:extLst>
      <p:ext uri="{BB962C8B-B14F-4D97-AF65-F5344CB8AC3E}">
        <p14:creationId xmlns:p14="http://schemas.microsoft.com/office/powerpoint/2010/main" val="35794690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頁首版面配置區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2940A748-F47E-7046-AF4F-F637DF1D4622}" type="datetime3">
              <a:rPr lang="en-AU" smtClean="0"/>
              <a:pPr>
                <a:defRPr/>
              </a:pPr>
              <a:t>2 January, 2021</a:t>
            </a:fld>
            <a:endParaRPr lang="en-AU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5 — Large and Fast: Exploiting Memory Hierarchy</a:t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5FA2C7-BCDA-764A-B229-1F2D67C852BA}" type="slidenum">
              <a:rPr lang="en-AU" altLang="x-none" smtClean="0"/>
              <a:pPr/>
              <a:t>4</a:t>
            </a:fld>
            <a:endParaRPr lang="en-AU" altLang="x-none"/>
          </a:p>
        </p:txBody>
      </p:sp>
    </p:spTree>
    <p:extLst>
      <p:ext uri="{BB962C8B-B14F-4D97-AF65-F5344CB8AC3E}">
        <p14:creationId xmlns:p14="http://schemas.microsoft.com/office/powerpoint/2010/main" val="3891417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A2E548-87F1-F944-831C-5B1D153136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9C3BB12-14AD-0945-BDAE-FEE85C8D6C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6D2F7D3-F38B-2C4D-9A31-5EF384380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A1736-B3EE-0448-96BC-B856187A04A3}" type="datetimeFigureOut">
              <a:rPr kumimoji="1" lang="zh-TW" altLang="en-US" smtClean="0"/>
              <a:t>2021/1/2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5D7DECB-D9D5-044A-A059-BFED67DAA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422D81E6-4C8A-7B45-915C-892218A5E85C}" type="slidenum">
              <a:rPr lang="en-AU" altLang="x-none" smtClean="0"/>
              <a:pPr/>
              <a:t>‹#›</a:t>
            </a:fld>
            <a:endParaRPr lang="en-AU" altLang="x-none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86817A7-51FB-4D41-8056-ABA375C38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ECC98-046C-FE42-92CC-2780803A60E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31868795"/>
      </p:ext>
    </p:extLst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294DD1-4C02-D44A-9A7C-01974C8F1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C002204-22B9-834D-970F-2AADC7C532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F615B10-9AE5-3E40-8707-7714E97F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A1736-B3EE-0448-96BC-B856187A04A3}" type="datetimeFigureOut">
              <a:rPr kumimoji="1" lang="zh-TW" altLang="en-US" smtClean="0"/>
              <a:t>2021/1/2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4E3565B-E4C2-5B48-9AA9-90B70EF32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422D81E6-4C8A-7B45-915C-892218A5E85C}" type="slidenum">
              <a:rPr lang="en-AU" altLang="x-none" smtClean="0"/>
              <a:pPr/>
              <a:t>‹#›</a:t>
            </a:fld>
            <a:endParaRPr lang="en-AU" altLang="x-none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6BEDC7E-FE8B-7145-8269-CBC182A93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ECC98-046C-FE42-92CC-2780803A60E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82308906"/>
      </p:ext>
    </p:extLst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DFE18A-1FAD-7A4B-87CF-BE3C3AE22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2217A8C-39F9-F64B-9CCB-2E3B522EBD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A43801F-4C54-B046-BA46-91B903263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A1736-B3EE-0448-96BC-B856187A04A3}" type="datetimeFigureOut">
              <a:rPr kumimoji="1" lang="zh-TW" altLang="en-US" smtClean="0"/>
              <a:t>2021/1/2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0A36D60-2620-A847-ABAC-1957B22F2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422D81E6-4C8A-7B45-915C-892218A5E85C}" type="slidenum">
              <a:rPr lang="en-AU" altLang="x-none" smtClean="0"/>
              <a:pPr/>
              <a:t>‹#›</a:t>
            </a:fld>
            <a:endParaRPr lang="en-AU" altLang="x-none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51E26B7-4C7E-FC44-A85F-A7C5DD50E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ECC98-046C-FE42-92CC-2780803A60E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31441389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D314A0-404E-514D-BF83-1BE0D6E00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74EB43D-F81E-0447-B17C-64AD03FFF1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D273F2F-F027-7244-A6E8-894836D408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2562A47-3BB5-1840-9C0B-55B497813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A1736-B3EE-0448-96BC-B856187A04A3}" type="datetimeFigureOut">
              <a:rPr kumimoji="1" lang="zh-TW" altLang="en-US" smtClean="0"/>
              <a:t>2021/1/2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E77418E-EF42-3F49-9B23-C0744806B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422D81E6-4C8A-7B45-915C-892218A5E85C}" type="slidenum">
              <a:rPr lang="en-AU" altLang="x-none" smtClean="0"/>
              <a:pPr/>
              <a:t>‹#›</a:t>
            </a:fld>
            <a:endParaRPr lang="en-AU" altLang="x-none" dirty="0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6DFAC15-D188-714B-9EE1-8AB9B0580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ECC98-046C-FE42-92CC-2780803A60E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33744198"/>
      </p:ext>
    </p:extLst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F754A0-D21B-1F4D-A8AD-4EAA054EA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08530FB-47CF-804B-B0FB-8DAA1156D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21A1AFE-EC4C-DF49-A3CE-3B72220E0D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27096F9-DE2C-5949-A778-EC4D5A8713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1E1807A-F615-5A47-B523-F2E1D46982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5CC339C-23C4-8E41-A1CB-B7DC08744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A1736-B3EE-0448-96BC-B856187A04A3}" type="datetimeFigureOut">
              <a:rPr kumimoji="1" lang="zh-TW" altLang="en-US" smtClean="0"/>
              <a:t>2021/1/2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5509319-E3D3-C743-BCF2-6B3E2393F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422D81E6-4C8A-7B45-915C-892218A5E85C}" type="slidenum">
              <a:rPr lang="en-AU" altLang="x-none" smtClean="0"/>
              <a:pPr/>
              <a:t>‹#›</a:t>
            </a:fld>
            <a:endParaRPr lang="en-AU" altLang="x-none" dirty="0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1648862-987D-FC45-BB98-6CCE17796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ECC98-046C-FE42-92CC-2780803A60E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93328782"/>
      </p:ext>
    </p:extLst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CC7421-4BCA-004A-B042-7F1B3BCC8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F5F2594-AED5-874A-BB44-B82168577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A1736-B3EE-0448-96BC-B856187A04A3}" type="datetimeFigureOut">
              <a:rPr kumimoji="1" lang="zh-TW" altLang="en-US" smtClean="0"/>
              <a:t>2021/1/2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CABD5B8-3E53-4B4E-81B2-CC99ED552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422D81E6-4C8A-7B45-915C-892218A5E85C}" type="slidenum">
              <a:rPr lang="en-AU" altLang="x-none" smtClean="0"/>
              <a:pPr/>
              <a:t>‹#›</a:t>
            </a:fld>
            <a:endParaRPr lang="en-AU" altLang="x-none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D1B6F9E-49E9-E44B-8680-EB4F5E7BE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ECC98-046C-FE42-92CC-2780803A60E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89298107"/>
      </p:ext>
    </p:extLst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B893049-3165-E84E-B1BB-95A2F4B40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A1736-B3EE-0448-96BC-B856187A04A3}" type="datetimeFigureOut">
              <a:rPr kumimoji="1" lang="zh-TW" altLang="en-US" smtClean="0"/>
              <a:t>2021/1/2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EDFEB8-5D63-0A43-83EB-908D02933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422D81E6-4C8A-7B45-915C-892218A5E85C}" type="slidenum">
              <a:rPr lang="en-AU" altLang="x-none" smtClean="0"/>
              <a:pPr/>
              <a:t>‹#›</a:t>
            </a:fld>
            <a:endParaRPr lang="en-AU" altLang="x-none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1A6A17-065D-FB4B-B1E5-C29A10B42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ECC98-046C-FE42-92CC-2780803A60E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77227332"/>
      </p:ext>
    </p:extLst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C3EBC70-0E30-4448-B12F-911D0BCB1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EC5F689-242B-7B47-A846-4566C8177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0D3B259-7C2B-F948-AFC2-C6ACAC3690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A600E90-584C-B54D-BC00-A303659C9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A1736-B3EE-0448-96BC-B856187A04A3}" type="datetimeFigureOut">
              <a:rPr kumimoji="1" lang="zh-TW" altLang="en-US" smtClean="0"/>
              <a:t>2021/1/2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5FDF4B8-7E22-244D-9166-048BAF1C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422D81E6-4C8A-7B45-915C-892218A5E85C}" type="slidenum">
              <a:rPr lang="en-AU" altLang="x-none" smtClean="0"/>
              <a:pPr/>
              <a:t>‹#›</a:t>
            </a:fld>
            <a:endParaRPr lang="en-AU" altLang="x-none" dirty="0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7198D9D-AAD4-784E-89D3-6A47284AA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ECC98-046C-FE42-92CC-2780803A60E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3920442"/>
      </p:ext>
    </p:extLst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6019D0-DFB7-DF4E-92E5-6C08A1D62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C66985E4-7A0A-2743-8A3A-26F8722B53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85F2D66-7BA4-7543-B3F9-AE4A91CFEF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363498A-B4A2-B344-8741-E28129E1E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A1736-B3EE-0448-96BC-B856187A04A3}" type="datetimeFigureOut">
              <a:rPr kumimoji="1" lang="zh-TW" altLang="en-US" smtClean="0"/>
              <a:t>2021/1/2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23B6599-BFDD-D240-B22A-187BF98A3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422D81E6-4C8A-7B45-915C-892218A5E85C}" type="slidenum">
              <a:rPr lang="en-AU" altLang="x-none" smtClean="0"/>
              <a:pPr/>
              <a:t>‹#›</a:t>
            </a:fld>
            <a:endParaRPr lang="en-AU" altLang="x-none" dirty="0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0EEDDBE-23F2-B149-B040-E49837EDD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ECC98-046C-FE42-92CC-2780803A60E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40435496"/>
      </p:ext>
    </p:extLst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45BC76-9AA5-9743-959F-F546D1DE0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81C3A0F-D08A-F348-86B3-3B5C7DA3D5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D45ED9C-F9BA-4048-8A41-2EF5A8D85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A1736-B3EE-0448-96BC-B856187A04A3}" type="datetimeFigureOut">
              <a:rPr kumimoji="1" lang="zh-TW" altLang="en-US" smtClean="0"/>
              <a:t>2021/1/2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DD135FD-A73B-9E46-86F7-8992891EA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422D81E6-4C8A-7B45-915C-892218A5E85C}" type="slidenum">
              <a:rPr lang="en-AU" altLang="x-none" smtClean="0"/>
              <a:pPr/>
              <a:t>‹#›</a:t>
            </a:fld>
            <a:endParaRPr lang="en-AU" altLang="x-none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5F407EA-7E93-064A-884D-CE21B2A05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ECC98-046C-FE42-92CC-2780803A60E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44355796"/>
      </p:ext>
    </p:extLst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D8F9DF8-441D-2B4F-8216-AA2D264466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1037177-F15E-3C4D-95B4-E2E88F2BE7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0EC5C3B-5C42-C046-8839-B98512596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A1736-B3EE-0448-96BC-B856187A04A3}" type="datetimeFigureOut">
              <a:rPr kumimoji="1" lang="zh-TW" altLang="en-US" smtClean="0"/>
              <a:t>2021/1/2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C2D0632-FD5A-A44D-A98B-4A2B62125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422D81E6-4C8A-7B45-915C-892218A5E85C}" type="slidenum">
              <a:rPr lang="en-AU" altLang="x-none" smtClean="0"/>
              <a:pPr/>
              <a:t>‹#›</a:t>
            </a:fld>
            <a:endParaRPr lang="en-AU" altLang="x-none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EE9F489-6FDF-E245-803B-C94B2B244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ECC98-046C-FE42-92CC-2780803A60E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51799684"/>
      </p:ext>
    </p:extLst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12570DF-1787-3248-9FD7-B0F888D3B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CE21405-4341-2E44-9C5B-520B9867B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B56638C-8453-644D-A279-43D5F4D5F2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0A1736-B3EE-0448-96BC-B856187A04A3}" type="datetimeFigureOut">
              <a:rPr kumimoji="1" lang="zh-TW" altLang="en-US" smtClean="0"/>
              <a:t>2021/1/2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92B26A6-5B67-4C4C-B0A2-02DE43BB88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2D81E6-4C8A-7B45-915C-892218A5E85C}" type="slidenum">
              <a:rPr lang="en-AU" altLang="x-none" smtClean="0"/>
              <a:pPr/>
              <a:t>‹#›</a:t>
            </a:fld>
            <a:endParaRPr lang="en-AU" altLang="x-none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85DBB0D-D59F-AD4A-9578-4928AC32AD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1ECC98-046C-FE42-92CC-2780803A60E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81591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807705-E254-5B44-BC61-380D5707B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One Data Kernel Computation</a:t>
            </a:r>
            <a:endParaRPr lang="zh-TW" altLang="en-US" dirty="0"/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B9666B66-1D58-4644-9B03-A2011225A8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1187306"/>
              </p:ext>
            </p:extLst>
          </p:nvPr>
        </p:nvGraphicFramePr>
        <p:xfrm>
          <a:off x="1475656" y="2132856"/>
          <a:ext cx="3705744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6436">
                  <a:extLst>
                    <a:ext uri="{9D8B030D-6E8A-4147-A177-3AD203B41FA5}">
                      <a16:colId xmlns:a16="http://schemas.microsoft.com/office/drawing/2014/main" val="3768779981"/>
                    </a:ext>
                  </a:extLst>
                </a:gridCol>
                <a:gridCol w="926436">
                  <a:extLst>
                    <a:ext uri="{9D8B030D-6E8A-4147-A177-3AD203B41FA5}">
                      <a16:colId xmlns:a16="http://schemas.microsoft.com/office/drawing/2014/main" val="1626313198"/>
                    </a:ext>
                  </a:extLst>
                </a:gridCol>
                <a:gridCol w="926436">
                  <a:extLst>
                    <a:ext uri="{9D8B030D-6E8A-4147-A177-3AD203B41FA5}">
                      <a16:colId xmlns:a16="http://schemas.microsoft.com/office/drawing/2014/main" val="439155643"/>
                    </a:ext>
                  </a:extLst>
                </a:gridCol>
                <a:gridCol w="926436">
                  <a:extLst>
                    <a:ext uri="{9D8B030D-6E8A-4147-A177-3AD203B41FA5}">
                      <a16:colId xmlns:a16="http://schemas.microsoft.com/office/drawing/2014/main" val="40775809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</a:t>
                      </a:r>
                      <a:r>
                        <a:rPr lang="en-US" altLang="zh-TW" baseline="-25000" dirty="0"/>
                        <a:t>00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a</a:t>
                      </a:r>
                      <a:r>
                        <a:rPr lang="en-US" altLang="zh-TW" baseline="-25000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a</a:t>
                      </a:r>
                      <a:r>
                        <a:rPr lang="en-US" altLang="zh-TW" baseline="-25000" dirty="0"/>
                        <a:t>02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450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</a:t>
                      </a:r>
                      <a:r>
                        <a:rPr lang="en-US" altLang="zh-TW" baseline="-25000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a</a:t>
                      </a:r>
                      <a:r>
                        <a:rPr lang="en-US" altLang="zh-TW" baseline="-250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a</a:t>
                      </a:r>
                      <a:r>
                        <a:rPr lang="en-US" altLang="zh-TW" baseline="-25000" dirty="0"/>
                        <a:t>12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31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</a:t>
                      </a:r>
                      <a:r>
                        <a:rPr lang="en-US" altLang="zh-TW" baseline="-25000" dirty="0"/>
                        <a:t>20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a</a:t>
                      </a:r>
                      <a:r>
                        <a:rPr lang="en-US" altLang="zh-TW" baseline="-25000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a</a:t>
                      </a:r>
                      <a:r>
                        <a:rPr lang="en-US" altLang="zh-TW" baseline="-25000" dirty="0"/>
                        <a:t>22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531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8840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6355077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5F022B12-5120-D44B-9626-192FE3C1B8F7}"/>
              </a:ext>
            </a:extLst>
          </p:cNvPr>
          <p:cNvSpPr txBox="1"/>
          <p:nvPr/>
        </p:nvSpPr>
        <p:spPr>
          <a:xfrm>
            <a:off x="1465809" y="1578857"/>
            <a:ext cx="985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Matrix A</a:t>
            </a:r>
            <a:endParaRPr kumimoji="1" lang="zh-TW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103E403-3DD0-6D45-9754-F7C6F9455F71}"/>
              </a:ext>
            </a:extLst>
          </p:cNvPr>
          <p:cNvSpPr/>
          <p:nvPr/>
        </p:nvSpPr>
        <p:spPr>
          <a:xfrm>
            <a:off x="1469091" y="2132855"/>
            <a:ext cx="2784722" cy="10902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CA353A2-0F7D-7243-9AD8-0AD52C5A3A51}"/>
              </a:ext>
            </a:extLst>
          </p:cNvPr>
          <p:cNvSpPr txBox="1"/>
          <p:nvPr/>
        </p:nvSpPr>
        <p:spPr>
          <a:xfrm>
            <a:off x="30939" y="2132855"/>
            <a:ext cx="143487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Processed range of one block of matrix A: 3X3 words A[3, 3] </a:t>
            </a:r>
            <a:endParaRPr kumimoji="1" lang="zh-TW" altLang="en-US" dirty="0"/>
          </a:p>
        </p:txBody>
      </p:sp>
      <p:graphicFrame>
        <p:nvGraphicFramePr>
          <p:cNvPr id="157" name="表格 3">
            <a:extLst>
              <a:ext uri="{FF2B5EF4-FFF2-40B4-BE49-F238E27FC236}">
                <a16:creationId xmlns:a16="http://schemas.microsoft.com/office/drawing/2014/main" id="{5A70D0AB-819B-114F-B4B7-6274099A15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2334388"/>
              </p:ext>
            </p:extLst>
          </p:nvPr>
        </p:nvGraphicFramePr>
        <p:xfrm>
          <a:off x="1821595" y="5077268"/>
          <a:ext cx="1852872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6436">
                  <a:extLst>
                    <a:ext uri="{9D8B030D-6E8A-4147-A177-3AD203B41FA5}">
                      <a16:colId xmlns:a16="http://schemas.microsoft.com/office/drawing/2014/main" val="3768779981"/>
                    </a:ext>
                  </a:extLst>
                </a:gridCol>
                <a:gridCol w="926436">
                  <a:extLst>
                    <a:ext uri="{9D8B030D-6E8A-4147-A177-3AD203B41FA5}">
                      <a16:colId xmlns:a16="http://schemas.microsoft.com/office/drawing/2014/main" val="16263131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k</a:t>
                      </a:r>
                      <a:r>
                        <a:rPr lang="en-US" altLang="zh-TW" baseline="-25000" dirty="0"/>
                        <a:t>00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k</a:t>
                      </a:r>
                      <a:r>
                        <a:rPr lang="en-US" altLang="zh-TW" baseline="-25000" dirty="0"/>
                        <a:t>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450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k</a:t>
                      </a:r>
                      <a:r>
                        <a:rPr lang="en-US" altLang="zh-TW" baseline="-25000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k</a:t>
                      </a:r>
                      <a:r>
                        <a:rPr lang="en-US" altLang="zh-TW" baseline="-25000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31039"/>
                  </a:ext>
                </a:extLst>
              </a:tr>
            </a:tbl>
          </a:graphicData>
        </a:graphic>
      </p:graphicFrame>
      <p:sp>
        <p:nvSpPr>
          <p:cNvPr id="158" name="文字方塊 157">
            <a:extLst>
              <a:ext uri="{FF2B5EF4-FFF2-40B4-BE49-F238E27FC236}">
                <a16:creationId xmlns:a16="http://schemas.microsoft.com/office/drawing/2014/main" id="{086E04A3-9DA6-B44A-B61F-2FAC6C11EB5C}"/>
              </a:ext>
            </a:extLst>
          </p:cNvPr>
          <p:cNvSpPr txBox="1"/>
          <p:nvPr/>
        </p:nvSpPr>
        <p:spPr>
          <a:xfrm>
            <a:off x="1811748" y="4596629"/>
            <a:ext cx="2049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Computation kernel</a:t>
            </a:r>
            <a:endParaRPr kumimoji="1" lang="zh-TW" altLang="en-US" dirty="0"/>
          </a:p>
        </p:txBody>
      </p:sp>
      <p:sp>
        <p:nvSpPr>
          <p:cNvPr id="160" name="文字方塊 159">
            <a:extLst>
              <a:ext uri="{FF2B5EF4-FFF2-40B4-BE49-F238E27FC236}">
                <a16:creationId xmlns:a16="http://schemas.microsoft.com/office/drawing/2014/main" id="{D7C8739D-D3CA-7A47-A557-99DDD87F5976}"/>
              </a:ext>
            </a:extLst>
          </p:cNvPr>
          <p:cNvSpPr txBox="1"/>
          <p:nvPr/>
        </p:nvSpPr>
        <p:spPr>
          <a:xfrm>
            <a:off x="199425" y="4686985"/>
            <a:ext cx="14348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Size of a computation kernel: 2X2 words  K[2, 2]</a:t>
            </a:r>
            <a:endParaRPr kumimoji="1" lang="zh-TW" altLang="en-US" dirty="0"/>
          </a:p>
        </p:txBody>
      </p:sp>
      <p:cxnSp>
        <p:nvCxnSpPr>
          <p:cNvPr id="8" name="直線箭頭接點 7">
            <a:extLst>
              <a:ext uri="{FF2B5EF4-FFF2-40B4-BE49-F238E27FC236}">
                <a16:creationId xmlns:a16="http://schemas.microsoft.com/office/drawing/2014/main" id="{81A77F82-BEC8-B24A-AE43-29EA72539E1A}"/>
              </a:ext>
            </a:extLst>
          </p:cNvPr>
          <p:cNvCxnSpPr/>
          <p:nvPr/>
        </p:nvCxnSpPr>
        <p:spPr>
          <a:xfrm>
            <a:off x="3851920" y="3223068"/>
            <a:ext cx="720080" cy="107002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線箭頭接點 160">
            <a:extLst>
              <a:ext uri="{FF2B5EF4-FFF2-40B4-BE49-F238E27FC236}">
                <a16:creationId xmlns:a16="http://schemas.microsoft.com/office/drawing/2014/main" id="{5DAA5D29-9348-0249-8D25-B76C670841B9}"/>
              </a:ext>
            </a:extLst>
          </p:cNvPr>
          <p:cNvCxnSpPr>
            <a:cxnSpLocks/>
          </p:cNvCxnSpPr>
          <p:nvPr/>
        </p:nvCxnSpPr>
        <p:spPr>
          <a:xfrm flipV="1">
            <a:off x="3851920" y="4502978"/>
            <a:ext cx="720080" cy="78417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文字方塊 161">
            <a:extLst>
              <a:ext uri="{FF2B5EF4-FFF2-40B4-BE49-F238E27FC236}">
                <a16:creationId xmlns:a16="http://schemas.microsoft.com/office/drawing/2014/main" id="{6FB3A4D3-5D99-7B44-BADB-9977BDC98C87}"/>
              </a:ext>
            </a:extLst>
          </p:cNvPr>
          <p:cNvSpPr txBox="1"/>
          <p:nvPr/>
        </p:nvSpPr>
        <p:spPr>
          <a:xfrm>
            <a:off x="4672966" y="4181130"/>
            <a:ext cx="447103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Output one word at B[</a:t>
            </a:r>
            <a:r>
              <a:rPr kumimoji="1" lang="en-US" altLang="zh-TW" dirty="0" err="1"/>
              <a:t>i</a:t>
            </a:r>
            <a:r>
              <a:rPr kumimoji="1" lang="en-US" altLang="zh-TW" dirty="0"/>
              <a:t>, j] </a:t>
            </a:r>
            <a:br>
              <a:rPr kumimoji="1" lang="en-US" altLang="zh-TW" dirty="0"/>
            </a:br>
            <a:r>
              <a:rPr kumimoji="1" lang="en-US" altLang="zh-TW" dirty="0"/>
              <a:t>= </a:t>
            </a:r>
            <a:r>
              <a:rPr kumimoji="1" lang="en-US" altLang="zh-TW" dirty="0" err="1"/>
              <a:t>func</a:t>
            </a:r>
            <a:r>
              <a:rPr kumimoji="1" lang="en-US" altLang="zh-TW" dirty="0"/>
              <a:t>(A[3, 3], K[2, 2])</a:t>
            </a:r>
            <a:br>
              <a:rPr kumimoji="1" lang="en-US" altLang="zh-TW" dirty="0"/>
            </a:br>
            <a:r>
              <a:rPr kumimoji="1" lang="en-US" altLang="zh-TW" dirty="0"/>
              <a:t>For example, b</a:t>
            </a:r>
            <a:r>
              <a:rPr lang="en-US" altLang="zh-TW" baseline="-25000" dirty="0"/>
              <a:t>00</a:t>
            </a:r>
            <a:r>
              <a:rPr kumimoji="1" lang="en-US" altLang="zh-TW" dirty="0"/>
              <a:t>=(k</a:t>
            </a:r>
            <a:r>
              <a:rPr lang="en-US" altLang="zh-TW" baseline="-25000" dirty="0"/>
              <a:t>00</a:t>
            </a:r>
            <a:r>
              <a:rPr kumimoji="1" lang="en-US" altLang="zh-TW" dirty="0"/>
              <a:t>*a</a:t>
            </a:r>
            <a:r>
              <a:rPr lang="en-US" altLang="zh-TW" baseline="-25000" dirty="0"/>
              <a:t>00 </a:t>
            </a:r>
            <a:r>
              <a:rPr kumimoji="1" lang="en-US" altLang="zh-TW" dirty="0"/>
              <a:t>+k</a:t>
            </a:r>
            <a:r>
              <a:rPr lang="en-US" altLang="zh-TW" baseline="-25000" dirty="0"/>
              <a:t>01</a:t>
            </a:r>
            <a:r>
              <a:rPr kumimoji="1" lang="en-US" altLang="zh-TW" dirty="0"/>
              <a:t>*a</a:t>
            </a:r>
            <a:r>
              <a:rPr lang="en-US" altLang="zh-TW" baseline="-25000" dirty="0"/>
              <a:t>01 </a:t>
            </a:r>
            <a:r>
              <a:rPr kumimoji="1" lang="en-US" altLang="zh-TW" dirty="0"/>
              <a:t>+k</a:t>
            </a:r>
            <a:r>
              <a:rPr kumimoji="1" lang="en-US" altLang="zh-TW" baseline="-25000" dirty="0"/>
              <a:t>1</a:t>
            </a:r>
            <a:r>
              <a:rPr lang="en-US" altLang="zh-TW" baseline="-25000" dirty="0"/>
              <a:t>0</a:t>
            </a:r>
            <a:r>
              <a:rPr kumimoji="1" lang="en-US" altLang="zh-TW" dirty="0"/>
              <a:t>*a</a:t>
            </a:r>
            <a:r>
              <a:rPr kumimoji="1" lang="en-US" altLang="zh-TW" baseline="-25000" dirty="0"/>
              <a:t>1</a:t>
            </a:r>
            <a:r>
              <a:rPr lang="en-US" altLang="zh-TW" baseline="-25000" dirty="0"/>
              <a:t>0 </a:t>
            </a:r>
            <a:r>
              <a:rPr kumimoji="1" lang="en-US" altLang="zh-TW" dirty="0"/>
              <a:t>+k</a:t>
            </a:r>
            <a:r>
              <a:rPr lang="en-US" altLang="zh-TW" baseline="-25000" dirty="0"/>
              <a:t>11</a:t>
            </a:r>
            <a:r>
              <a:rPr kumimoji="1" lang="en-US" altLang="zh-TW" dirty="0"/>
              <a:t>*a</a:t>
            </a:r>
            <a:r>
              <a:rPr lang="en-US" altLang="zh-TW" baseline="-25000" dirty="0"/>
              <a:t>11</a:t>
            </a:r>
            <a:r>
              <a:rPr kumimoji="1" lang="en-US" altLang="zh-TW" dirty="0"/>
              <a:t>)+ (k</a:t>
            </a:r>
            <a:r>
              <a:rPr lang="en-US" altLang="zh-TW" baseline="-25000" dirty="0"/>
              <a:t>00</a:t>
            </a:r>
            <a:r>
              <a:rPr kumimoji="1" lang="en-US" altLang="zh-TW" dirty="0"/>
              <a:t>*a</a:t>
            </a:r>
            <a:r>
              <a:rPr lang="en-US" altLang="zh-TW" baseline="-25000" dirty="0"/>
              <a:t>01 </a:t>
            </a:r>
            <a:r>
              <a:rPr kumimoji="1" lang="en-US" altLang="zh-TW" dirty="0"/>
              <a:t>+k</a:t>
            </a:r>
            <a:r>
              <a:rPr lang="en-US" altLang="zh-TW" baseline="-25000" dirty="0"/>
              <a:t>01</a:t>
            </a:r>
            <a:r>
              <a:rPr kumimoji="1" lang="en-US" altLang="zh-TW" dirty="0"/>
              <a:t>*a</a:t>
            </a:r>
            <a:r>
              <a:rPr lang="en-US" altLang="zh-TW" baseline="-25000" dirty="0"/>
              <a:t>02 </a:t>
            </a:r>
            <a:r>
              <a:rPr kumimoji="1" lang="en-US" altLang="zh-TW" dirty="0"/>
              <a:t>+k</a:t>
            </a:r>
            <a:r>
              <a:rPr kumimoji="1" lang="en-US" altLang="zh-TW" baseline="-25000" dirty="0"/>
              <a:t>1</a:t>
            </a:r>
            <a:r>
              <a:rPr lang="en-US" altLang="zh-TW" baseline="-25000" dirty="0"/>
              <a:t>0</a:t>
            </a:r>
            <a:r>
              <a:rPr kumimoji="1" lang="en-US" altLang="zh-TW" dirty="0"/>
              <a:t>*a</a:t>
            </a:r>
            <a:r>
              <a:rPr kumimoji="1" lang="en-US" altLang="zh-TW" baseline="-25000" dirty="0"/>
              <a:t>11</a:t>
            </a:r>
            <a:r>
              <a:rPr lang="en-US" altLang="zh-TW" baseline="-25000" dirty="0"/>
              <a:t> </a:t>
            </a:r>
            <a:r>
              <a:rPr kumimoji="1" lang="en-US" altLang="zh-TW" dirty="0"/>
              <a:t>+k</a:t>
            </a:r>
            <a:r>
              <a:rPr lang="en-US" altLang="zh-TW" baseline="-25000" dirty="0"/>
              <a:t>11</a:t>
            </a:r>
            <a:r>
              <a:rPr kumimoji="1" lang="en-US" altLang="zh-TW" dirty="0"/>
              <a:t>*a</a:t>
            </a:r>
            <a:r>
              <a:rPr lang="en-US" altLang="zh-TW" baseline="-25000" dirty="0"/>
              <a:t>12</a:t>
            </a:r>
            <a:r>
              <a:rPr kumimoji="1" lang="en-US" altLang="zh-TW" dirty="0"/>
              <a:t>)+ (k</a:t>
            </a:r>
            <a:r>
              <a:rPr lang="en-US" altLang="zh-TW" baseline="-25000" dirty="0"/>
              <a:t>00</a:t>
            </a:r>
            <a:r>
              <a:rPr kumimoji="1" lang="en-US" altLang="zh-TW" dirty="0"/>
              <a:t>*a</a:t>
            </a:r>
            <a:r>
              <a:rPr kumimoji="1" lang="en-US" altLang="zh-TW" baseline="-25000" dirty="0"/>
              <a:t>1</a:t>
            </a:r>
            <a:r>
              <a:rPr lang="en-US" altLang="zh-TW" baseline="-25000" dirty="0"/>
              <a:t>0 </a:t>
            </a:r>
            <a:r>
              <a:rPr kumimoji="1" lang="en-US" altLang="zh-TW" dirty="0"/>
              <a:t>+k</a:t>
            </a:r>
            <a:r>
              <a:rPr lang="en-US" altLang="zh-TW" baseline="-25000" dirty="0"/>
              <a:t>01</a:t>
            </a:r>
            <a:r>
              <a:rPr kumimoji="1" lang="en-US" altLang="zh-TW" dirty="0"/>
              <a:t>*a</a:t>
            </a:r>
            <a:r>
              <a:rPr kumimoji="1" lang="en-US" altLang="zh-TW" baseline="-25000" dirty="0"/>
              <a:t>1</a:t>
            </a:r>
            <a:r>
              <a:rPr lang="en-US" altLang="zh-TW" baseline="-25000" dirty="0"/>
              <a:t>1 </a:t>
            </a:r>
            <a:r>
              <a:rPr kumimoji="1" lang="en-US" altLang="zh-TW" dirty="0"/>
              <a:t>+k</a:t>
            </a:r>
            <a:r>
              <a:rPr kumimoji="1" lang="en-US" altLang="zh-TW" baseline="-25000" dirty="0"/>
              <a:t>1</a:t>
            </a:r>
            <a:r>
              <a:rPr lang="en-US" altLang="zh-TW" baseline="-25000" dirty="0"/>
              <a:t>0</a:t>
            </a:r>
            <a:r>
              <a:rPr kumimoji="1" lang="en-US" altLang="zh-TW" dirty="0"/>
              <a:t>*a</a:t>
            </a:r>
            <a:r>
              <a:rPr kumimoji="1" lang="en-US" altLang="zh-TW" baseline="-25000" dirty="0"/>
              <a:t>2</a:t>
            </a:r>
            <a:r>
              <a:rPr lang="en-US" altLang="zh-TW" baseline="-25000" dirty="0"/>
              <a:t>0 </a:t>
            </a:r>
            <a:r>
              <a:rPr kumimoji="1" lang="en-US" altLang="zh-TW" dirty="0"/>
              <a:t>+k</a:t>
            </a:r>
            <a:r>
              <a:rPr lang="en-US" altLang="zh-TW" baseline="-25000" dirty="0"/>
              <a:t>11</a:t>
            </a:r>
            <a:r>
              <a:rPr kumimoji="1" lang="en-US" altLang="zh-TW" dirty="0"/>
              <a:t>*a</a:t>
            </a:r>
            <a:r>
              <a:rPr kumimoji="1" lang="en-US" altLang="zh-TW" baseline="-25000" dirty="0"/>
              <a:t>2</a:t>
            </a:r>
            <a:r>
              <a:rPr lang="en-US" altLang="zh-TW" baseline="-25000" dirty="0"/>
              <a:t>1</a:t>
            </a:r>
            <a:r>
              <a:rPr kumimoji="1" lang="en-US" altLang="zh-TW" dirty="0"/>
              <a:t>)+ (k</a:t>
            </a:r>
            <a:r>
              <a:rPr lang="en-US" altLang="zh-TW" baseline="-25000" dirty="0"/>
              <a:t>00</a:t>
            </a:r>
            <a:r>
              <a:rPr kumimoji="1" lang="en-US" altLang="zh-TW" dirty="0"/>
              <a:t>*a</a:t>
            </a:r>
            <a:r>
              <a:rPr kumimoji="1" lang="en-US" altLang="zh-TW" baseline="-25000" dirty="0"/>
              <a:t>1</a:t>
            </a:r>
            <a:r>
              <a:rPr lang="en-US" altLang="zh-TW" baseline="-25000" dirty="0"/>
              <a:t>1 </a:t>
            </a:r>
            <a:r>
              <a:rPr kumimoji="1" lang="en-US" altLang="zh-TW" dirty="0"/>
              <a:t>+k</a:t>
            </a:r>
            <a:r>
              <a:rPr lang="en-US" altLang="zh-TW" baseline="-25000" dirty="0"/>
              <a:t>01</a:t>
            </a:r>
            <a:r>
              <a:rPr kumimoji="1" lang="en-US" altLang="zh-TW" dirty="0"/>
              <a:t>*a</a:t>
            </a:r>
            <a:r>
              <a:rPr kumimoji="1" lang="en-US" altLang="zh-TW" baseline="-25000" dirty="0"/>
              <a:t>1</a:t>
            </a:r>
            <a:r>
              <a:rPr lang="en-US" altLang="zh-TW" baseline="-25000" dirty="0"/>
              <a:t>2 </a:t>
            </a:r>
            <a:r>
              <a:rPr kumimoji="1" lang="en-US" altLang="zh-TW" dirty="0"/>
              <a:t>+k</a:t>
            </a:r>
            <a:r>
              <a:rPr kumimoji="1" lang="en-US" altLang="zh-TW" baseline="-25000" dirty="0"/>
              <a:t>1</a:t>
            </a:r>
            <a:r>
              <a:rPr lang="en-US" altLang="zh-TW" baseline="-25000" dirty="0"/>
              <a:t>0</a:t>
            </a:r>
            <a:r>
              <a:rPr kumimoji="1" lang="en-US" altLang="zh-TW" dirty="0"/>
              <a:t>*a</a:t>
            </a:r>
            <a:r>
              <a:rPr kumimoji="1" lang="en-US" altLang="zh-TW" baseline="-25000" dirty="0"/>
              <a:t>21</a:t>
            </a:r>
            <a:r>
              <a:rPr lang="en-US" altLang="zh-TW" baseline="-25000" dirty="0"/>
              <a:t> </a:t>
            </a:r>
            <a:r>
              <a:rPr kumimoji="1" lang="en-US" altLang="zh-TW" dirty="0"/>
              <a:t>+k</a:t>
            </a:r>
            <a:r>
              <a:rPr lang="en-US" altLang="zh-TW" baseline="-25000" dirty="0"/>
              <a:t>11</a:t>
            </a:r>
            <a:r>
              <a:rPr kumimoji="1" lang="en-US" altLang="zh-TW" dirty="0"/>
              <a:t>*a</a:t>
            </a:r>
            <a:r>
              <a:rPr kumimoji="1" lang="en-US" altLang="zh-TW" baseline="-25000" dirty="0"/>
              <a:t>2</a:t>
            </a:r>
            <a:r>
              <a:rPr lang="en-US" altLang="zh-TW" baseline="-25000" dirty="0"/>
              <a:t>2</a:t>
            </a:r>
            <a:r>
              <a:rPr kumimoji="1" lang="en-US" altLang="zh-TW" dirty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29366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807705-E254-5B44-BC61-380D5707B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Kernel Computation Scan Pattern A (Row-based)</a:t>
            </a:r>
            <a:br>
              <a:rPr lang="en-US" altLang="zh-TW" dirty="0"/>
            </a:br>
            <a:br>
              <a:rPr lang="en-US" altLang="zh-TW" dirty="0"/>
            </a:br>
            <a:endParaRPr lang="zh-TW" altLang="en-US" dirty="0"/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B9666B66-1D58-4644-9B03-A2011225A8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7818051"/>
              </p:ext>
            </p:extLst>
          </p:nvPr>
        </p:nvGraphicFramePr>
        <p:xfrm>
          <a:off x="309425" y="1185353"/>
          <a:ext cx="1434870" cy="14859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6974">
                  <a:extLst>
                    <a:ext uri="{9D8B030D-6E8A-4147-A177-3AD203B41FA5}">
                      <a16:colId xmlns:a16="http://schemas.microsoft.com/office/drawing/2014/main" val="3768779981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1626313198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439155643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4077580916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3637269662"/>
                    </a:ext>
                  </a:extLst>
                </a:gridCol>
              </a:tblGrid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450425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31039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531848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8840822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6355077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5F022B12-5120-D44B-9626-192FE3C1B8F7}"/>
              </a:ext>
            </a:extLst>
          </p:cNvPr>
          <p:cNvSpPr txBox="1"/>
          <p:nvPr/>
        </p:nvSpPr>
        <p:spPr>
          <a:xfrm>
            <a:off x="250654" y="858034"/>
            <a:ext cx="985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Matrix A</a:t>
            </a:r>
            <a:endParaRPr kumimoji="1" lang="zh-TW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103E403-3DD0-6D45-9754-F7C6F9455F71}"/>
              </a:ext>
            </a:extLst>
          </p:cNvPr>
          <p:cNvSpPr/>
          <p:nvPr/>
        </p:nvSpPr>
        <p:spPr>
          <a:xfrm>
            <a:off x="325317" y="1185352"/>
            <a:ext cx="862307" cy="9011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CA353A2-0F7D-7243-9AD8-0AD52C5A3A51}"/>
              </a:ext>
            </a:extLst>
          </p:cNvPr>
          <p:cNvSpPr txBox="1"/>
          <p:nvPr/>
        </p:nvSpPr>
        <p:spPr>
          <a:xfrm>
            <a:off x="1835696" y="2320550"/>
            <a:ext cx="1292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Iteration 0</a:t>
            </a:r>
            <a:endParaRPr kumimoji="1" lang="zh-TW" altLang="en-US" dirty="0"/>
          </a:p>
        </p:txBody>
      </p:sp>
      <p:graphicFrame>
        <p:nvGraphicFramePr>
          <p:cNvPr id="13" name="表格 3">
            <a:extLst>
              <a:ext uri="{FF2B5EF4-FFF2-40B4-BE49-F238E27FC236}">
                <a16:creationId xmlns:a16="http://schemas.microsoft.com/office/drawing/2014/main" id="{33784B72-E0B6-3246-96FD-190C5788D2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7493217"/>
              </p:ext>
            </p:extLst>
          </p:nvPr>
        </p:nvGraphicFramePr>
        <p:xfrm>
          <a:off x="1943298" y="1183213"/>
          <a:ext cx="806025" cy="8915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8675">
                  <a:extLst>
                    <a:ext uri="{9D8B030D-6E8A-4147-A177-3AD203B41FA5}">
                      <a16:colId xmlns:a16="http://schemas.microsoft.com/office/drawing/2014/main" val="3768779981"/>
                    </a:ext>
                  </a:extLst>
                </a:gridCol>
                <a:gridCol w="268675">
                  <a:extLst>
                    <a:ext uri="{9D8B030D-6E8A-4147-A177-3AD203B41FA5}">
                      <a16:colId xmlns:a16="http://schemas.microsoft.com/office/drawing/2014/main" val="1626313198"/>
                    </a:ext>
                  </a:extLst>
                </a:gridCol>
                <a:gridCol w="268675">
                  <a:extLst>
                    <a:ext uri="{9D8B030D-6E8A-4147-A177-3AD203B41FA5}">
                      <a16:colId xmlns:a16="http://schemas.microsoft.com/office/drawing/2014/main" val="4193715377"/>
                    </a:ext>
                  </a:extLst>
                </a:gridCol>
              </a:tblGrid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450425"/>
                  </a:ext>
                </a:extLst>
              </a:tr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31039"/>
                  </a:ext>
                </a:extLst>
              </a:tr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531848"/>
                  </a:ext>
                </a:extLst>
              </a:tr>
            </a:tbl>
          </a:graphicData>
        </a:graphic>
      </p:graphicFrame>
      <p:sp>
        <p:nvSpPr>
          <p:cNvPr id="14" name="文字方塊 13">
            <a:extLst>
              <a:ext uri="{FF2B5EF4-FFF2-40B4-BE49-F238E27FC236}">
                <a16:creationId xmlns:a16="http://schemas.microsoft.com/office/drawing/2014/main" id="{1F33113B-CA3C-2C43-B192-2B9F367885B2}"/>
              </a:ext>
            </a:extLst>
          </p:cNvPr>
          <p:cNvSpPr txBox="1"/>
          <p:nvPr/>
        </p:nvSpPr>
        <p:spPr>
          <a:xfrm>
            <a:off x="1757989" y="862568"/>
            <a:ext cx="9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Matrix B</a:t>
            </a:r>
            <a:endParaRPr kumimoji="1" lang="zh-TW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77835C2-34A6-3C4A-99C8-4D5ED1F43329}"/>
              </a:ext>
            </a:extLst>
          </p:cNvPr>
          <p:cNvSpPr/>
          <p:nvPr/>
        </p:nvSpPr>
        <p:spPr>
          <a:xfrm>
            <a:off x="1936735" y="1183213"/>
            <a:ext cx="259002" cy="288034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" name="向右箭號 6">
            <a:extLst>
              <a:ext uri="{FF2B5EF4-FFF2-40B4-BE49-F238E27FC236}">
                <a16:creationId xmlns:a16="http://schemas.microsoft.com/office/drawing/2014/main" id="{55DB6912-2920-EF4D-919B-8B74CAE52FEE}"/>
              </a:ext>
            </a:extLst>
          </p:cNvPr>
          <p:cNvSpPr/>
          <p:nvPr/>
        </p:nvSpPr>
        <p:spPr>
          <a:xfrm>
            <a:off x="1252970" y="1338544"/>
            <a:ext cx="670070" cy="1582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graphicFrame>
        <p:nvGraphicFramePr>
          <p:cNvPr id="25" name="表格 3">
            <a:extLst>
              <a:ext uri="{FF2B5EF4-FFF2-40B4-BE49-F238E27FC236}">
                <a16:creationId xmlns:a16="http://schemas.microsoft.com/office/drawing/2014/main" id="{485915F3-10D3-7646-A762-9C99E0B3B1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9396274"/>
              </p:ext>
            </p:extLst>
          </p:nvPr>
        </p:nvGraphicFramePr>
        <p:xfrm>
          <a:off x="3106231" y="1180222"/>
          <a:ext cx="1434870" cy="14859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6974">
                  <a:extLst>
                    <a:ext uri="{9D8B030D-6E8A-4147-A177-3AD203B41FA5}">
                      <a16:colId xmlns:a16="http://schemas.microsoft.com/office/drawing/2014/main" val="3768779981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1626313198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439155643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4077580916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3637269662"/>
                    </a:ext>
                  </a:extLst>
                </a:gridCol>
              </a:tblGrid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450425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31039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531848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8840822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6355077"/>
                  </a:ext>
                </a:extLst>
              </a:tr>
            </a:tbl>
          </a:graphicData>
        </a:graphic>
      </p:graphicFrame>
      <p:sp>
        <p:nvSpPr>
          <p:cNvPr id="26" name="文字方塊 25">
            <a:extLst>
              <a:ext uri="{FF2B5EF4-FFF2-40B4-BE49-F238E27FC236}">
                <a16:creationId xmlns:a16="http://schemas.microsoft.com/office/drawing/2014/main" id="{D2A1CC64-8C42-6047-AD7F-64FBCF0AF796}"/>
              </a:ext>
            </a:extLst>
          </p:cNvPr>
          <p:cNvSpPr txBox="1"/>
          <p:nvPr/>
        </p:nvSpPr>
        <p:spPr>
          <a:xfrm>
            <a:off x="2932687" y="852903"/>
            <a:ext cx="985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Matrix A</a:t>
            </a:r>
            <a:endParaRPr kumimoji="1" lang="zh-TW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B9DDF71-4155-4D43-BEF9-63FBAFFFB352}"/>
              </a:ext>
            </a:extLst>
          </p:cNvPr>
          <p:cNvSpPr/>
          <p:nvPr/>
        </p:nvSpPr>
        <p:spPr>
          <a:xfrm>
            <a:off x="3392418" y="1180221"/>
            <a:ext cx="862307" cy="9011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B9D0BA70-9718-A148-8CC6-8324615309B0}"/>
              </a:ext>
            </a:extLst>
          </p:cNvPr>
          <p:cNvSpPr txBox="1"/>
          <p:nvPr/>
        </p:nvSpPr>
        <p:spPr>
          <a:xfrm>
            <a:off x="4632502" y="2315419"/>
            <a:ext cx="1292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Iteration 1</a:t>
            </a:r>
            <a:endParaRPr kumimoji="1" lang="zh-TW" altLang="en-US" dirty="0"/>
          </a:p>
        </p:txBody>
      </p:sp>
      <p:graphicFrame>
        <p:nvGraphicFramePr>
          <p:cNvPr id="30" name="表格 3">
            <a:extLst>
              <a:ext uri="{FF2B5EF4-FFF2-40B4-BE49-F238E27FC236}">
                <a16:creationId xmlns:a16="http://schemas.microsoft.com/office/drawing/2014/main" id="{33FC97E5-055F-CB49-931B-63488F8359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9611617"/>
              </p:ext>
            </p:extLst>
          </p:nvPr>
        </p:nvGraphicFramePr>
        <p:xfrm>
          <a:off x="4740104" y="1178082"/>
          <a:ext cx="806025" cy="8915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8675">
                  <a:extLst>
                    <a:ext uri="{9D8B030D-6E8A-4147-A177-3AD203B41FA5}">
                      <a16:colId xmlns:a16="http://schemas.microsoft.com/office/drawing/2014/main" val="3768779981"/>
                    </a:ext>
                  </a:extLst>
                </a:gridCol>
                <a:gridCol w="268675">
                  <a:extLst>
                    <a:ext uri="{9D8B030D-6E8A-4147-A177-3AD203B41FA5}">
                      <a16:colId xmlns:a16="http://schemas.microsoft.com/office/drawing/2014/main" val="1626313198"/>
                    </a:ext>
                  </a:extLst>
                </a:gridCol>
                <a:gridCol w="268675">
                  <a:extLst>
                    <a:ext uri="{9D8B030D-6E8A-4147-A177-3AD203B41FA5}">
                      <a16:colId xmlns:a16="http://schemas.microsoft.com/office/drawing/2014/main" val="4193715377"/>
                    </a:ext>
                  </a:extLst>
                </a:gridCol>
              </a:tblGrid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450425"/>
                  </a:ext>
                </a:extLst>
              </a:tr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31039"/>
                  </a:ext>
                </a:extLst>
              </a:tr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531848"/>
                  </a:ext>
                </a:extLst>
              </a:tr>
            </a:tbl>
          </a:graphicData>
        </a:graphic>
      </p:graphicFrame>
      <p:sp>
        <p:nvSpPr>
          <p:cNvPr id="31" name="文字方塊 30">
            <a:extLst>
              <a:ext uri="{FF2B5EF4-FFF2-40B4-BE49-F238E27FC236}">
                <a16:creationId xmlns:a16="http://schemas.microsoft.com/office/drawing/2014/main" id="{7501D005-8941-2E41-A029-44AF25A79E87}"/>
              </a:ext>
            </a:extLst>
          </p:cNvPr>
          <p:cNvSpPr txBox="1"/>
          <p:nvPr/>
        </p:nvSpPr>
        <p:spPr>
          <a:xfrm>
            <a:off x="4554795" y="857437"/>
            <a:ext cx="9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Matrix B</a:t>
            </a:r>
            <a:endParaRPr kumimoji="1" lang="zh-TW" altLang="en-US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0F26203-9DBA-7046-8370-BC3D7E9D363E}"/>
              </a:ext>
            </a:extLst>
          </p:cNvPr>
          <p:cNvSpPr/>
          <p:nvPr/>
        </p:nvSpPr>
        <p:spPr>
          <a:xfrm>
            <a:off x="5003835" y="1178082"/>
            <a:ext cx="259002" cy="288034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3" name="向右箭號 32">
            <a:extLst>
              <a:ext uri="{FF2B5EF4-FFF2-40B4-BE49-F238E27FC236}">
                <a16:creationId xmlns:a16="http://schemas.microsoft.com/office/drawing/2014/main" id="{75F74AFA-183F-374E-8AA0-E3D2A3BAB802}"/>
              </a:ext>
            </a:extLst>
          </p:cNvPr>
          <p:cNvSpPr/>
          <p:nvPr/>
        </p:nvSpPr>
        <p:spPr>
          <a:xfrm>
            <a:off x="4295439" y="1334254"/>
            <a:ext cx="670070" cy="1582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graphicFrame>
        <p:nvGraphicFramePr>
          <p:cNvPr id="34" name="表格 3">
            <a:extLst>
              <a:ext uri="{FF2B5EF4-FFF2-40B4-BE49-F238E27FC236}">
                <a16:creationId xmlns:a16="http://schemas.microsoft.com/office/drawing/2014/main" id="{E8C01339-9420-D74A-B587-5F6BE948B9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4613592"/>
              </p:ext>
            </p:extLst>
          </p:nvPr>
        </p:nvGraphicFramePr>
        <p:xfrm>
          <a:off x="5929519" y="1164031"/>
          <a:ext cx="1434870" cy="14859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6974">
                  <a:extLst>
                    <a:ext uri="{9D8B030D-6E8A-4147-A177-3AD203B41FA5}">
                      <a16:colId xmlns:a16="http://schemas.microsoft.com/office/drawing/2014/main" val="3768779981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1626313198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439155643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4077580916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3637269662"/>
                    </a:ext>
                  </a:extLst>
                </a:gridCol>
              </a:tblGrid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450425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31039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531848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8840822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6355077"/>
                  </a:ext>
                </a:extLst>
              </a:tr>
            </a:tbl>
          </a:graphicData>
        </a:graphic>
      </p:graphicFrame>
      <p:sp>
        <p:nvSpPr>
          <p:cNvPr id="35" name="文字方塊 34">
            <a:extLst>
              <a:ext uri="{FF2B5EF4-FFF2-40B4-BE49-F238E27FC236}">
                <a16:creationId xmlns:a16="http://schemas.microsoft.com/office/drawing/2014/main" id="{E64FDD2B-6033-634F-BD85-E140357092EB}"/>
              </a:ext>
            </a:extLst>
          </p:cNvPr>
          <p:cNvSpPr txBox="1"/>
          <p:nvPr/>
        </p:nvSpPr>
        <p:spPr>
          <a:xfrm>
            <a:off x="5870748" y="836712"/>
            <a:ext cx="985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Matrix A</a:t>
            </a:r>
            <a:endParaRPr kumimoji="1" lang="zh-TW" altLang="en-US" dirty="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04E2FF7-BD37-AF4C-9A1A-391C71701F3D}"/>
              </a:ext>
            </a:extLst>
          </p:cNvPr>
          <p:cNvSpPr/>
          <p:nvPr/>
        </p:nvSpPr>
        <p:spPr>
          <a:xfrm>
            <a:off x="6488761" y="1164030"/>
            <a:ext cx="862307" cy="9011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7D613286-8870-CA40-B40F-158EF656BF21}"/>
              </a:ext>
            </a:extLst>
          </p:cNvPr>
          <p:cNvSpPr txBox="1"/>
          <p:nvPr/>
        </p:nvSpPr>
        <p:spPr>
          <a:xfrm>
            <a:off x="7455790" y="2299228"/>
            <a:ext cx="1292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Iteration 2</a:t>
            </a:r>
            <a:endParaRPr kumimoji="1" lang="zh-TW" altLang="en-US" dirty="0"/>
          </a:p>
        </p:txBody>
      </p:sp>
      <p:graphicFrame>
        <p:nvGraphicFramePr>
          <p:cNvPr id="38" name="表格 3">
            <a:extLst>
              <a:ext uri="{FF2B5EF4-FFF2-40B4-BE49-F238E27FC236}">
                <a16:creationId xmlns:a16="http://schemas.microsoft.com/office/drawing/2014/main" id="{5FC65C5E-B29C-3E4E-9194-AC49841255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1229888"/>
              </p:ext>
            </p:extLst>
          </p:nvPr>
        </p:nvGraphicFramePr>
        <p:xfrm>
          <a:off x="7563392" y="1161891"/>
          <a:ext cx="806025" cy="8915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8675">
                  <a:extLst>
                    <a:ext uri="{9D8B030D-6E8A-4147-A177-3AD203B41FA5}">
                      <a16:colId xmlns:a16="http://schemas.microsoft.com/office/drawing/2014/main" val="3768779981"/>
                    </a:ext>
                  </a:extLst>
                </a:gridCol>
                <a:gridCol w="268675">
                  <a:extLst>
                    <a:ext uri="{9D8B030D-6E8A-4147-A177-3AD203B41FA5}">
                      <a16:colId xmlns:a16="http://schemas.microsoft.com/office/drawing/2014/main" val="1626313198"/>
                    </a:ext>
                  </a:extLst>
                </a:gridCol>
                <a:gridCol w="268675">
                  <a:extLst>
                    <a:ext uri="{9D8B030D-6E8A-4147-A177-3AD203B41FA5}">
                      <a16:colId xmlns:a16="http://schemas.microsoft.com/office/drawing/2014/main" val="4193715377"/>
                    </a:ext>
                  </a:extLst>
                </a:gridCol>
              </a:tblGrid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450425"/>
                  </a:ext>
                </a:extLst>
              </a:tr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31039"/>
                  </a:ext>
                </a:extLst>
              </a:tr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531848"/>
                  </a:ext>
                </a:extLst>
              </a:tr>
            </a:tbl>
          </a:graphicData>
        </a:graphic>
      </p:graphicFrame>
      <p:sp>
        <p:nvSpPr>
          <p:cNvPr id="39" name="文字方塊 38">
            <a:extLst>
              <a:ext uri="{FF2B5EF4-FFF2-40B4-BE49-F238E27FC236}">
                <a16:creationId xmlns:a16="http://schemas.microsoft.com/office/drawing/2014/main" id="{FC9C4475-838D-5E44-BC9B-EF4F18C5E922}"/>
              </a:ext>
            </a:extLst>
          </p:cNvPr>
          <p:cNvSpPr txBox="1"/>
          <p:nvPr/>
        </p:nvSpPr>
        <p:spPr>
          <a:xfrm>
            <a:off x="7378083" y="841246"/>
            <a:ext cx="9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Matrix B</a:t>
            </a:r>
            <a:endParaRPr kumimoji="1" lang="zh-TW" altLang="en-US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C45B9BA-29A1-3F45-BC9B-CE949527FD68}"/>
              </a:ext>
            </a:extLst>
          </p:cNvPr>
          <p:cNvSpPr/>
          <p:nvPr/>
        </p:nvSpPr>
        <p:spPr>
          <a:xfrm>
            <a:off x="8100179" y="1161891"/>
            <a:ext cx="259002" cy="288034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1" name="向右箭號 40">
            <a:extLst>
              <a:ext uri="{FF2B5EF4-FFF2-40B4-BE49-F238E27FC236}">
                <a16:creationId xmlns:a16="http://schemas.microsoft.com/office/drawing/2014/main" id="{BE5B99D8-C165-B04E-83A2-7CD86E1EE2DE}"/>
              </a:ext>
            </a:extLst>
          </p:cNvPr>
          <p:cNvSpPr/>
          <p:nvPr/>
        </p:nvSpPr>
        <p:spPr>
          <a:xfrm>
            <a:off x="7416414" y="1328373"/>
            <a:ext cx="670070" cy="1582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graphicFrame>
        <p:nvGraphicFramePr>
          <p:cNvPr id="42" name="表格 3">
            <a:extLst>
              <a:ext uri="{FF2B5EF4-FFF2-40B4-BE49-F238E27FC236}">
                <a16:creationId xmlns:a16="http://schemas.microsoft.com/office/drawing/2014/main" id="{2C8859E2-092E-354D-87AF-BACE2DFFA4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8471316"/>
              </p:ext>
            </p:extLst>
          </p:nvPr>
        </p:nvGraphicFramePr>
        <p:xfrm>
          <a:off x="309425" y="2977250"/>
          <a:ext cx="1434870" cy="14859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6974">
                  <a:extLst>
                    <a:ext uri="{9D8B030D-6E8A-4147-A177-3AD203B41FA5}">
                      <a16:colId xmlns:a16="http://schemas.microsoft.com/office/drawing/2014/main" val="3768779981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1626313198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439155643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4077580916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3637269662"/>
                    </a:ext>
                  </a:extLst>
                </a:gridCol>
              </a:tblGrid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450425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31039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531848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8840822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6355077"/>
                  </a:ext>
                </a:extLst>
              </a:tr>
            </a:tbl>
          </a:graphicData>
        </a:graphic>
      </p:graphicFrame>
      <p:sp>
        <p:nvSpPr>
          <p:cNvPr id="43" name="文字方塊 42">
            <a:extLst>
              <a:ext uri="{FF2B5EF4-FFF2-40B4-BE49-F238E27FC236}">
                <a16:creationId xmlns:a16="http://schemas.microsoft.com/office/drawing/2014/main" id="{02A20902-EABF-534A-877E-A43A1414C1D4}"/>
              </a:ext>
            </a:extLst>
          </p:cNvPr>
          <p:cNvSpPr txBox="1"/>
          <p:nvPr/>
        </p:nvSpPr>
        <p:spPr>
          <a:xfrm>
            <a:off x="250654" y="2649931"/>
            <a:ext cx="985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Matrix A</a:t>
            </a:r>
            <a:endParaRPr kumimoji="1" lang="zh-TW" altLang="en-US" dirty="0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BC39A276-0154-2E48-8544-FCB62E3102FB}"/>
              </a:ext>
            </a:extLst>
          </p:cNvPr>
          <p:cNvSpPr/>
          <p:nvPr/>
        </p:nvSpPr>
        <p:spPr>
          <a:xfrm>
            <a:off x="325317" y="3247894"/>
            <a:ext cx="862307" cy="9011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AD197264-4550-9D43-AAD9-2B471FC2AC3F}"/>
              </a:ext>
            </a:extLst>
          </p:cNvPr>
          <p:cNvSpPr txBox="1"/>
          <p:nvPr/>
        </p:nvSpPr>
        <p:spPr>
          <a:xfrm>
            <a:off x="1835696" y="4112447"/>
            <a:ext cx="1292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Iteration 3</a:t>
            </a:r>
            <a:endParaRPr kumimoji="1" lang="zh-TW" altLang="en-US" dirty="0"/>
          </a:p>
        </p:txBody>
      </p:sp>
      <p:graphicFrame>
        <p:nvGraphicFramePr>
          <p:cNvPr id="46" name="表格 3">
            <a:extLst>
              <a:ext uri="{FF2B5EF4-FFF2-40B4-BE49-F238E27FC236}">
                <a16:creationId xmlns:a16="http://schemas.microsoft.com/office/drawing/2014/main" id="{DEB8C749-7514-A446-BCC0-8CFB064B7E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1880367"/>
              </p:ext>
            </p:extLst>
          </p:nvPr>
        </p:nvGraphicFramePr>
        <p:xfrm>
          <a:off x="1943298" y="2975110"/>
          <a:ext cx="806025" cy="8915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8675">
                  <a:extLst>
                    <a:ext uri="{9D8B030D-6E8A-4147-A177-3AD203B41FA5}">
                      <a16:colId xmlns:a16="http://schemas.microsoft.com/office/drawing/2014/main" val="3768779981"/>
                    </a:ext>
                  </a:extLst>
                </a:gridCol>
                <a:gridCol w="268675">
                  <a:extLst>
                    <a:ext uri="{9D8B030D-6E8A-4147-A177-3AD203B41FA5}">
                      <a16:colId xmlns:a16="http://schemas.microsoft.com/office/drawing/2014/main" val="1626313198"/>
                    </a:ext>
                  </a:extLst>
                </a:gridCol>
                <a:gridCol w="268675">
                  <a:extLst>
                    <a:ext uri="{9D8B030D-6E8A-4147-A177-3AD203B41FA5}">
                      <a16:colId xmlns:a16="http://schemas.microsoft.com/office/drawing/2014/main" val="4193715377"/>
                    </a:ext>
                  </a:extLst>
                </a:gridCol>
              </a:tblGrid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450425"/>
                  </a:ext>
                </a:extLst>
              </a:tr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31039"/>
                  </a:ext>
                </a:extLst>
              </a:tr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531848"/>
                  </a:ext>
                </a:extLst>
              </a:tr>
            </a:tbl>
          </a:graphicData>
        </a:graphic>
      </p:graphicFrame>
      <p:sp>
        <p:nvSpPr>
          <p:cNvPr id="47" name="文字方塊 46">
            <a:extLst>
              <a:ext uri="{FF2B5EF4-FFF2-40B4-BE49-F238E27FC236}">
                <a16:creationId xmlns:a16="http://schemas.microsoft.com/office/drawing/2014/main" id="{C9CA6465-4319-2949-B743-90E219855468}"/>
              </a:ext>
            </a:extLst>
          </p:cNvPr>
          <p:cNvSpPr txBox="1"/>
          <p:nvPr/>
        </p:nvSpPr>
        <p:spPr>
          <a:xfrm>
            <a:off x="1757989" y="2654465"/>
            <a:ext cx="9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Matrix B</a:t>
            </a:r>
            <a:endParaRPr kumimoji="1" lang="zh-TW" altLang="en-US" dirty="0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E1F4C6F5-8C37-8943-8148-45C8BB5EC611}"/>
              </a:ext>
            </a:extLst>
          </p:cNvPr>
          <p:cNvSpPr/>
          <p:nvPr/>
        </p:nvSpPr>
        <p:spPr>
          <a:xfrm>
            <a:off x="1936735" y="3245755"/>
            <a:ext cx="259002" cy="288034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9" name="向右箭號 48">
            <a:extLst>
              <a:ext uri="{FF2B5EF4-FFF2-40B4-BE49-F238E27FC236}">
                <a16:creationId xmlns:a16="http://schemas.microsoft.com/office/drawing/2014/main" id="{2EA64478-3139-E446-8D34-3280E371B85F}"/>
              </a:ext>
            </a:extLst>
          </p:cNvPr>
          <p:cNvSpPr/>
          <p:nvPr/>
        </p:nvSpPr>
        <p:spPr>
          <a:xfrm>
            <a:off x="1252970" y="3401086"/>
            <a:ext cx="670070" cy="1582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graphicFrame>
        <p:nvGraphicFramePr>
          <p:cNvPr id="50" name="表格 3">
            <a:extLst>
              <a:ext uri="{FF2B5EF4-FFF2-40B4-BE49-F238E27FC236}">
                <a16:creationId xmlns:a16="http://schemas.microsoft.com/office/drawing/2014/main" id="{CBDCE41E-AC6F-AD46-8E67-57099341F5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6720357"/>
              </p:ext>
            </p:extLst>
          </p:nvPr>
        </p:nvGraphicFramePr>
        <p:xfrm>
          <a:off x="3106231" y="2972119"/>
          <a:ext cx="1434870" cy="14859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6974">
                  <a:extLst>
                    <a:ext uri="{9D8B030D-6E8A-4147-A177-3AD203B41FA5}">
                      <a16:colId xmlns:a16="http://schemas.microsoft.com/office/drawing/2014/main" val="3768779981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1626313198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439155643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4077580916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3637269662"/>
                    </a:ext>
                  </a:extLst>
                </a:gridCol>
              </a:tblGrid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450425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31039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531848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8840822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6355077"/>
                  </a:ext>
                </a:extLst>
              </a:tr>
            </a:tbl>
          </a:graphicData>
        </a:graphic>
      </p:graphicFrame>
      <p:sp>
        <p:nvSpPr>
          <p:cNvPr id="51" name="文字方塊 50">
            <a:extLst>
              <a:ext uri="{FF2B5EF4-FFF2-40B4-BE49-F238E27FC236}">
                <a16:creationId xmlns:a16="http://schemas.microsoft.com/office/drawing/2014/main" id="{B1407295-B207-D343-BB3B-CF463BEB9EB6}"/>
              </a:ext>
            </a:extLst>
          </p:cNvPr>
          <p:cNvSpPr txBox="1"/>
          <p:nvPr/>
        </p:nvSpPr>
        <p:spPr>
          <a:xfrm>
            <a:off x="2932687" y="2644800"/>
            <a:ext cx="985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Matrix A</a:t>
            </a:r>
            <a:endParaRPr kumimoji="1" lang="zh-TW" altLang="en-US" dirty="0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C7867243-554A-1F48-9D48-DC4EA830EEA3}"/>
              </a:ext>
            </a:extLst>
          </p:cNvPr>
          <p:cNvSpPr/>
          <p:nvPr/>
        </p:nvSpPr>
        <p:spPr>
          <a:xfrm>
            <a:off x="3392418" y="3247894"/>
            <a:ext cx="862307" cy="9011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5ACE009A-2CC5-6F41-8436-B8BB56816E93}"/>
              </a:ext>
            </a:extLst>
          </p:cNvPr>
          <p:cNvSpPr txBox="1"/>
          <p:nvPr/>
        </p:nvSpPr>
        <p:spPr>
          <a:xfrm>
            <a:off x="4632502" y="4107316"/>
            <a:ext cx="1292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Iteration 4</a:t>
            </a:r>
            <a:endParaRPr kumimoji="1" lang="zh-TW" altLang="en-US" dirty="0"/>
          </a:p>
        </p:txBody>
      </p:sp>
      <p:graphicFrame>
        <p:nvGraphicFramePr>
          <p:cNvPr id="54" name="表格 3">
            <a:extLst>
              <a:ext uri="{FF2B5EF4-FFF2-40B4-BE49-F238E27FC236}">
                <a16:creationId xmlns:a16="http://schemas.microsoft.com/office/drawing/2014/main" id="{4A88997C-8CE8-1648-8EF9-CB88B6A3A0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1287256"/>
              </p:ext>
            </p:extLst>
          </p:nvPr>
        </p:nvGraphicFramePr>
        <p:xfrm>
          <a:off x="4740104" y="2969979"/>
          <a:ext cx="806025" cy="8915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8675">
                  <a:extLst>
                    <a:ext uri="{9D8B030D-6E8A-4147-A177-3AD203B41FA5}">
                      <a16:colId xmlns:a16="http://schemas.microsoft.com/office/drawing/2014/main" val="3768779981"/>
                    </a:ext>
                  </a:extLst>
                </a:gridCol>
                <a:gridCol w="268675">
                  <a:extLst>
                    <a:ext uri="{9D8B030D-6E8A-4147-A177-3AD203B41FA5}">
                      <a16:colId xmlns:a16="http://schemas.microsoft.com/office/drawing/2014/main" val="1626313198"/>
                    </a:ext>
                  </a:extLst>
                </a:gridCol>
                <a:gridCol w="268675">
                  <a:extLst>
                    <a:ext uri="{9D8B030D-6E8A-4147-A177-3AD203B41FA5}">
                      <a16:colId xmlns:a16="http://schemas.microsoft.com/office/drawing/2014/main" val="4193715377"/>
                    </a:ext>
                  </a:extLst>
                </a:gridCol>
              </a:tblGrid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450425"/>
                  </a:ext>
                </a:extLst>
              </a:tr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31039"/>
                  </a:ext>
                </a:extLst>
              </a:tr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531848"/>
                  </a:ext>
                </a:extLst>
              </a:tr>
            </a:tbl>
          </a:graphicData>
        </a:graphic>
      </p:graphicFrame>
      <p:sp>
        <p:nvSpPr>
          <p:cNvPr id="55" name="文字方塊 54">
            <a:extLst>
              <a:ext uri="{FF2B5EF4-FFF2-40B4-BE49-F238E27FC236}">
                <a16:creationId xmlns:a16="http://schemas.microsoft.com/office/drawing/2014/main" id="{2CEFC6B5-9D2F-D64D-88C5-9E31B2630D0C}"/>
              </a:ext>
            </a:extLst>
          </p:cNvPr>
          <p:cNvSpPr txBox="1"/>
          <p:nvPr/>
        </p:nvSpPr>
        <p:spPr>
          <a:xfrm>
            <a:off x="4554795" y="2649334"/>
            <a:ext cx="9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Matrix B</a:t>
            </a:r>
            <a:endParaRPr kumimoji="1" lang="zh-TW" altLang="en-US" dirty="0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31BC9140-17D2-1C47-ACC6-922B56C24782}"/>
              </a:ext>
            </a:extLst>
          </p:cNvPr>
          <p:cNvSpPr/>
          <p:nvPr/>
        </p:nvSpPr>
        <p:spPr>
          <a:xfrm>
            <a:off x="5003835" y="3245755"/>
            <a:ext cx="259002" cy="288034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7" name="向右箭號 56">
            <a:extLst>
              <a:ext uri="{FF2B5EF4-FFF2-40B4-BE49-F238E27FC236}">
                <a16:creationId xmlns:a16="http://schemas.microsoft.com/office/drawing/2014/main" id="{961753E1-7444-6C47-983D-54A955AC9161}"/>
              </a:ext>
            </a:extLst>
          </p:cNvPr>
          <p:cNvSpPr/>
          <p:nvPr/>
        </p:nvSpPr>
        <p:spPr>
          <a:xfrm>
            <a:off x="4295439" y="3401927"/>
            <a:ext cx="670070" cy="1582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graphicFrame>
        <p:nvGraphicFramePr>
          <p:cNvPr id="58" name="表格 3">
            <a:extLst>
              <a:ext uri="{FF2B5EF4-FFF2-40B4-BE49-F238E27FC236}">
                <a16:creationId xmlns:a16="http://schemas.microsoft.com/office/drawing/2014/main" id="{964BD9CD-0581-5B48-A0D0-CD77CEBC29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4494213"/>
              </p:ext>
            </p:extLst>
          </p:nvPr>
        </p:nvGraphicFramePr>
        <p:xfrm>
          <a:off x="5929519" y="2955928"/>
          <a:ext cx="1434870" cy="14859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6974">
                  <a:extLst>
                    <a:ext uri="{9D8B030D-6E8A-4147-A177-3AD203B41FA5}">
                      <a16:colId xmlns:a16="http://schemas.microsoft.com/office/drawing/2014/main" val="3768779981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1626313198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439155643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4077580916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3637269662"/>
                    </a:ext>
                  </a:extLst>
                </a:gridCol>
              </a:tblGrid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450425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31039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531848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8840822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6355077"/>
                  </a:ext>
                </a:extLst>
              </a:tr>
            </a:tbl>
          </a:graphicData>
        </a:graphic>
      </p:graphicFrame>
      <p:sp>
        <p:nvSpPr>
          <p:cNvPr id="59" name="文字方塊 58">
            <a:extLst>
              <a:ext uri="{FF2B5EF4-FFF2-40B4-BE49-F238E27FC236}">
                <a16:creationId xmlns:a16="http://schemas.microsoft.com/office/drawing/2014/main" id="{019D8DDE-730B-6746-8E9D-8B2FE54E2D35}"/>
              </a:ext>
            </a:extLst>
          </p:cNvPr>
          <p:cNvSpPr txBox="1"/>
          <p:nvPr/>
        </p:nvSpPr>
        <p:spPr>
          <a:xfrm>
            <a:off x="5870748" y="2628609"/>
            <a:ext cx="985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Matrix A</a:t>
            </a:r>
            <a:endParaRPr kumimoji="1" lang="zh-TW" altLang="en-US" dirty="0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72F26F1A-AB36-A14C-AD98-8B3C1EC212EB}"/>
              </a:ext>
            </a:extLst>
          </p:cNvPr>
          <p:cNvSpPr/>
          <p:nvPr/>
        </p:nvSpPr>
        <p:spPr>
          <a:xfrm>
            <a:off x="6488761" y="3247894"/>
            <a:ext cx="862307" cy="9011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F56C19F9-B71D-F449-8ACE-F44ABE4031B9}"/>
              </a:ext>
            </a:extLst>
          </p:cNvPr>
          <p:cNvSpPr txBox="1"/>
          <p:nvPr/>
        </p:nvSpPr>
        <p:spPr>
          <a:xfrm>
            <a:off x="7455790" y="4091125"/>
            <a:ext cx="1292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Iteration 5</a:t>
            </a:r>
            <a:endParaRPr kumimoji="1" lang="zh-TW" altLang="en-US" dirty="0"/>
          </a:p>
        </p:txBody>
      </p:sp>
      <p:graphicFrame>
        <p:nvGraphicFramePr>
          <p:cNvPr id="62" name="表格 3">
            <a:extLst>
              <a:ext uri="{FF2B5EF4-FFF2-40B4-BE49-F238E27FC236}">
                <a16:creationId xmlns:a16="http://schemas.microsoft.com/office/drawing/2014/main" id="{A0365A2D-1B0B-CA44-AF76-640FDFE741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9340833"/>
              </p:ext>
            </p:extLst>
          </p:nvPr>
        </p:nvGraphicFramePr>
        <p:xfrm>
          <a:off x="7563392" y="2953788"/>
          <a:ext cx="806025" cy="8915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8675">
                  <a:extLst>
                    <a:ext uri="{9D8B030D-6E8A-4147-A177-3AD203B41FA5}">
                      <a16:colId xmlns:a16="http://schemas.microsoft.com/office/drawing/2014/main" val="3768779981"/>
                    </a:ext>
                  </a:extLst>
                </a:gridCol>
                <a:gridCol w="268675">
                  <a:extLst>
                    <a:ext uri="{9D8B030D-6E8A-4147-A177-3AD203B41FA5}">
                      <a16:colId xmlns:a16="http://schemas.microsoft.com/office/drawing/2014/main" val="1626313198"/>
                    </a:ext>
                  </a:extLst>
                </a:gridCol>
                <a:gridCol w="268675">
                  <a:extLst>
                    <a:ext uri="{9D8B030D-6E8A-4147-A177-3AD203B41FA5}">
                      <a16:colId xmlns:a16="http://schemas.microsoft.com/office/drawing/2014/main" val="4193715377"/>
                    </a:ext>
                  </a:extLst>
                </a:gridCol>
              </a:tblGrid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450425"/>
                  </a:ext>
                </a:extLst>
              </a:tr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31039"/>
                  </a:ext>
                </a:extLst>
              </a:tr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531848"/>
                  </a:ext>
                </a:extLst>
              </a:tr>
            </a:tbl>
          </a:graphicData>
        </a:graphic>
      </p:graphicFrame>
      <p:sp>
        <p:nvSpPr>
          <p:cNvPr id="63" name="文字方塊 62">
            <a:extLst>
              <a:ext uri="{FF2B5EF4-FFF2-40B4-BE49-F238E27FC236}">
                <a16:creationId xmlns:a16="http://schemas.microsoft.com/office/drawing/2014/main" id="{BA748810-A132-DE43-AC28-8F8F286E1D09}"/>
              </a:ext>
            </a:extLst>
          </p:cNvPr>
          <p:cNvSpPr txBox="1"/>
          <p:nvPr/>
        </p:nvSpPr>
        <p:spPr>
          <a:xfrm>
            <a:off x="7378083" y="2633143"/>
            <a:ext cx="9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Matrix B</a:t>
            </a:r>
            <a:endParaRPr kumimoji="1" lang="zh-TW" altLang="en-US" dirty="0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D347C628-6A7A-8043-89C2-1C625C6F9011}"/>
              </a:ext>
            </a:extLst>
          </p:cNvPr>
          <p:cNvSpPr/>
          <p:nvPr/>
        </p:nvSpPr>
        <p:spPr>
          <a:xfrm>
            <a:off x="8100179" y="3245755"/>
            <a:ext cx="259002" cy="288034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5" name="向右箭號 64">
            <a:extLst>
              <a:ext uri="{FF2B5EF4-FFF2-40B4-BE49-F238E27FC236}">
                <a16:creationId xmlns:a16="http://schemas.microsoft.com/office/drawing/2014/main" id="{7C08A00F-7D3C-1741-B30F-F09B19311324}"/>
              </a:ext>
            </a:extLst>
          </p:cNvPr>
          <p:cNvSpPr/>
          <p:nvPr/>
        </p:nvSpPr>
        <p:spPr>
          <a:xfrm>
            <a:off x="7416414" y="3401086"/>
            <a:ext cx="670070" cy="1582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graphicFrame>
        <p:nvGraphicFramePr>
          <p:cNvPr id="66" name="表格 3">
            <a:extLst>
              <a:ext uri="{FF2B5EF4-FFF2-40B4-BE49-F238E27FC236}">
                <a16:creationId xmlns:a16="http://schemas.microsoft.com/office/drawing/2014/main" id="{C2373938-3CE7-8240-9E0D-6B1DDAF9E8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1543327"/>
              </p:ext>
            </p:extLst>
          </p:nvPr>
        </p:nvGraphicFramePr>
        <p:xfrm>
          <a:off x="309425" y="4787528"/>
          <a:ext cx="1434870" cy="14859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6974">
                  <a:extLst>
                    <a:ext uri="{9D8B030D-6E8A-4147-A177-3AD203B41FA5}">
                      <a16:colId xmlns:a16="http://schemas.microsoft.com/office/drawing/2014/main" val="3768779981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1626313198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439155643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4077580916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3637269662"/>
                    </a:ext>
                  </a:extLst>
                </a:gridCol>
              </a:tblGrid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450425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31039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531848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8840822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6355077"/>
                  </a:ext>
                </a:extLst>
              </a:tr>
            </a:tbl>
          </a:graphicData>
        </a:graphic>
      </p:graphicFrame>
      <p:sp>
        <p:nvSpPr>
          <p:cNvPr id="67" name="文字方塊 66">
            <a:extLst>
              <a:ext uri="{FF2B5EF4-FFF2-40B4-BE49-F238E27FC236}">
                <a16:creationId xmlns:a16="http://schemas.microsoft.com/office/drawing/2014/main" id="{44AF50B0-26A5-7C49-8E3B-D0B6679AAB76}"/>
              </a:ext>
            </a:extLst>
          </p:cNvPr>
          <p:cNvSpPr txBox="1"/>
          <p:nvPr/>
        </p:nvSpPr>
        <p:spPr>
          <a:xfrm>
            <a:off x="250654" y="4460209"/>
            <a:ext cx="985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Matrix A</a:t>
            </a:r>
            <a:endParaRPr kumimoji="1" lang="zh-TW" altLang="en-US" dirty="0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FF78C232-4A48-EC44-A51D-A8E80562A9BA}"/>
              </a:ext>
            </a:extLst>
          </p:cNvPr>
          <p:cNvSpPr/>
          <p:nvPr/>
        </p:nvSpPr>
        <p:spPr>
          <a:xfrm>
            <a:off x="325317" y="5375355"/>
            <a:ext cx="862307" cy="9011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326AC12F-7B02-694A-B8AB-0E8D9992E8A0}"/>
              </a:ext>
            </a:extLst>
          </p:cNvPr>
          <p:cNvSpPr txBox="1"/>
          <p:nvPr/>
        </p:nvSpPr>
        <p:spPr>
          <a:xfrm>
            <a:off x="1835696" y="5922725"/>
            <a:ext cx="1292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Iteration 6</a:t>
            </a:r>
            <a:endParaRPr kumimoji="1" lang="zh-TW" altLang="en-US" dirty="0"/>
          </a:p>
        </p:txBody>
      </p:sp>
      <p:graphicFrame>
        <p:nvGraphicFramePr>
          <p:cNvPr id="70" name="表格 3">
            <a:extLst>
              <a:ext uri="{FF2B5EF4-FFF2-40B4-BE49-F238E27FC236}">
                <a16:creationId xmlns:a16="http://schemas.microsoft.com/office/drawing/2014/main" id="{616C9D67-ACAF-0E44-B0D6-4B399001E5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4506210"/>
              </p:ext>
            </p:extLst>
          </p:nvPr>
        </p:nvGraphicFramePr>
        <p:xfrm>
          <a:off x="1943298" y="4785388"/>
          <a:ext cx="806025" cy="8915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8675">
                  <a:extLst>
                    <a:ext uri="{9D8B030D-6E8A-4147-A177-3AD203B41FA5}">
                      <a16:colId xmlns:a16="http://schemas.microsoft.com/office/drawing/2014/main" val="3768779981"/>
                    </a:ext>
                  </a:extLst>
                </a:gridCol>
                <a:gridCol w="268675">
                  <a:extLst>
                    <a:ext uri="{9D8B030D-6E8A-4147-A177-3AD203B41FA5}">
                      <a16:colId xmlns:a16="http://schemas.microsoft.com/office/drawing/2014/main" val="1626313198"/>
                    </a:ext>
                  </a:extLst>
                </a:gridCol>
                <a:gridCol w="268675">
                  <a:extLst>
                    <a:ext uri="{9D8B030D-6E8A-4147-A177-3AD203B41FA5}">
                      <a16:colId xmlns:a16="http://schemas.microsoft.com/office/drawing/2014/main" val="4193715377"/>
                    </a:ext>
                  </a:extLst>
                </a:gridCol>
              </a:tblGrid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450425"/>
                  </a:ext>
                </a:extLst>
              </a:tr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31039"/>
                  </a:ext>
                </a:extLst>
              </a:tr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531848"/>
                  </a:ext>
                </a:extLst>
              </a:tr>
            </a:tbl>
          </a:graphicData>
        </a:graphic>
      </p:graphicFrame>
      <p:sp>
        <p:nvSpPr>
          <p:cNvPr id="71" name="文字方塊 70">
            <a:extLst>
              <a:ext uri="{FF2B5EF4-FFF2-40B4-BE49-F238E27FC236}">
                <a16:creationId xmlns:a16="http://schemas.microsoft.com/office/drawing/2014/main" id="{882BA3E6-0015-2742-A47C-94CC0BB82BEC}"/>
              </a:ext>
            </a:extLst>
          </p:cNvPr>
          <p:cNvSpPr txBox="1"/>
          <p:nvPr/>
        </p:nvSpPr>
        <p:spPr>
          <a:xfrm>
            <a:off x="1757989" y="4464743"/>
            <a:ext cx="9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Matrix B</a:t>
            </a:r>
            <a:endParaRPr kumimoji="1" lang="zh-TW" altLang="en-US" dirty="0"/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CCF72D5E-0B8A-F040-90BA-63F233A39034}"/>
              </a:ext>
            </a:extLst>
          </p:cNvPr>
          <p:cNvSpPr/>
          <p:nvPr/>
        </p:nvSpPr>
        <p:spPr>
          <a:xfrm>
            <a:off x="1936735" y="5373216"/>
            <a:ext cx="259002" cy="288034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3" name="向右箭號 72">
            <a:extLst>
              <a:ext uri="{FF2B5EF4-FFF2-40B4-BE49-F238E27FC236}">
                <a16:creationId xmlns:a16="http://schemas.microsoft.com/office/drawing/2014/main" id="{9B357B41-1663-0041-9F20-65C8664CE764}"/>
              </a:ext>
            </a:extLst>
          </p:cNvPr>
          <p:cNvSpPr/>
          <p:nvPr/>
        </p:nvSpPr>
        <p:spPr>
          <a:xfrm>
            <a:off x="1252970" y="5528547"/>
            <a:ext cx="670070" cy="1582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graphicFrame>
        <p:nvGraphicFramePr>
          <p:cNvPr id="74" name="表格 3">
            <a:extLst>
              <a:ext uri="{FF2B5EF4-FFF2-40B4-BE49-F238E27FC236}">
                <a16:creationId xmlns:a16="http://schemas.microsoft.com/office/drawing/2014/main" id="{539F082B-A13D-F741-98FD-1934A652BC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3912548"/>
              </p:ext>
            </p:extLst>
          </p:nvPr>
        </p:nvGraphicFramePr>
        <p:xfrm>
          <a:off x="3106231" y="4782397"/>
          <a:ext cx="1434870" cy="14859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6974">
                  <a:extLst>
                    <a:ext uri="{9D8B030D-6E8A-4147-A177-3AD203B41FA5}">
                      <a16:colId xmlns:a16="http://schemas.microsoft.com/office/drawing/2014/main" val="3768779981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1626313198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439155643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4077580916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3637269662"/>
                    </a:ext>
                  </a:extLst>
                </a:gridCol>
              </a:tblGrid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450425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31039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531848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8840822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6355077"/>
                  </a:ext>
                </a:extLst>
              </a:tr>
            </a:tbl>
          </a:graphicData>
        </a:graphic>
      </p:graphicFrame>
      <p:sp>
        <p:nvSpPr>
          <p:cNvPr id="75" name="文字方塊 74">
            <a:extLst>
              <a:ext uri="{FF2B5EF4-FFF2-40B4-BE49-F238E27FC236}">
                <a16:creationId xmlns:a16="http://schemas.microsoft.com/office/drawing/2014/main" id="{85BF5A10-64D5-B642-A787-FD3D821106B1}"/>
              </a:ext>
            </a:extLst>
          </p:cNvPr>
          <p:cNvSpPr txBox="1"/>
          <p:nvPr/>
        </p:nvSpPr>
        <p:spPr>
          <a:xfrm>
            <a:off x="2932687" y="4455078"/>
            <a:ext cx="985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Matrix A</a:t>
            </a:r>
            <a:endParaRPr kumimoji="1" lang="zh-TW" altLang="en-US" dirty="0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FB0DDA78-EBA2-714D-B0C6-96BA3D7956D6}"/>
              </a:ext>
            </a:extLst>
          </p:cNvPr>
          <p:cNvSpPr/>
          <p:nvPr/>
        </p:nvSpPr>
        <p:spPr>
          <a:xfrm>
            <a:off x="3392418" y="5391546"/>
            <a:ext cx="862307" cy="9011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7" name="文字方塊 76">
            <a:extLst>
              <a:ext uri="{FF2B5EF4-FFF2-40B4-BE49-F238E27FC236}">
                <a16:creationId xmlns:a16="http://schemas.microsoft.com/office/drawing/2014/main" id="{C403E488-5172-8342-8424-D52BE115A784}"/>
              </a:ext>
            </a:extLst>
          </p:cNvPr>
          <p:cNvSpPr txBox="1"/>
          <p:nvPr/>
        </p:nvSpPr>
        <p:spPr>
          <a:xfrm>
            <a:off x="4632502" y="5917594"/>
            <a:ext cx="1292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Iteration 7</a:t>
            </a:r>
            <a:endParaRPr kumimoji="1" lang="zh-TW" altLang="en-US" dirty="0"/>
          </a:p>
        </p:txBody>
      </p:sp>
      <p:graphicFrame>
        <p:nvGraphicFramePr>
          <p:cNvPr id="78" name="表格 3">
            <a:extLst>
              <a:ext uri="{FF2B5EF4-FFF2-40B4-BE49-F238E27FC236}">
                <a16:creationId xmlns:a16="http://schemas.microsoft.com/office/drawing/2014/main" id="{2539E1CA-C9C3-354F-9E23-67CF2F26D4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6837408"/>
              </p:ext>
            </p:extLst>
          </p:nvPr>
        </p:nvGraphicFramePr>
        <p:xfrm>
          <a:off x="4740104" y="4780257"/>
          <a:ext cx="806025" cy="8915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8675">
                  <a:extLst>
                    <a:ext uri="{9D8B030D-6E8A-4147-A177-3AD203B41FA5}">
                      <a16:colId xmlns:a16="http://schemas.microsoft.com/office/drawing/2014/main" val="3768779981"/>
                    </a:ext>
                  </a:extLst>
                </a:gridCol>
                <a:gridCol w="268675">
                  <a:extLst>
                    <a:ext uri="{9D8B030D-6E8A-4147-A177-3AD203B41FA5}">
                      <a16:colId xmlns:a16="http://schemas.microsoft.com/office/drawing/2014/main" val="1626313198"/>
                    </a:ext>
                  </a:extLst>
                </a:gridCol>
                <a:gridCol w="268675">
                  <a:extLst>
                    <a:ext uri="{9D8B030D-6E8A-4147-A177-3AD203B41FA5}">
                      <a16:colId xmlns:a16="http://schemas.microsoft.com/office/drawing/2014/main" val="4193715377"/>
                    </a:ext>
                  </a:extLst>
                </a:gridCol>
              </a:tblGrid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450425"/>
                  </a:ext>
                </a:extLst>
              </a:tr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31039"/>
                  </a:ext>
                </a:extLst>
              </a:tr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531848"/>
                  </a:ext>
                </a:extLst>
              </a:tr>
            </a:tbl>
          </a:graphicData>
        </a:graphic>
      </p:graphicFrame>
      <p:sp>
        <p:nvSpPr>
          <p:cNvPr id="79" name="文字方塊 78">
            <a:extLst>
              <a:ext uri="{FF2B5EF4-FFF2-40B4-BE49-F238E27FC236}">
                <a16:creationId xmlns:a16="http://schemas.microsoft.com/office/drawing/2014/main" id="{96C18BFF-12FF-7C47-9504-0208AF9127EB}"/>
              </a:ext>
            </a:extLst>
          </p:cNvPr>
          <p:cNvSpPr txBox="1"/>
          <p:nvPr/>
        </p:nvSpPr>
        <p:spPr>
          <a:xfrm>
            <a:off x="4554795" y="4459612"/>
            <a:ext cx="9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Matrix B</a:t>
            </a:r>
            <a:endParaRPr kumimoji="1" lang="zh-TW" altLang="en-US" dirty="0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27AC5D2E-9C6C-124B-9789-6792AD5C6C4C}"/>
              </a:ext>
            </a:extLst>
          </p:cNvPr>
          <p:cNvSpPr/>
          <p:nvPr/>
        </p:nvSpPr>
        <p:spPr>
          <a:xfrm>
            <a:off x="5003835" y="5389407"/>
            <a:ext cx="259002" cy="288034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1" name="向右箭號 80">
            <a:extLst>
              <a:ext uri="{FF2B5EF4-FFF2-40B4-BE49-F238E27FC236}">
                <a16:creationId xmlns:a16="http://schemas.microsoft.com/office/drawing/2014/main" id="{BC2D1B0E-62AA-3C49-ACA8-32EF20557B1B}"/>
              </a:ext>
            </a:extLst>
          </p:cNvPr>
          <p:cNvSpPr/>
          <p:nvPr/>
        </p:nvSpPr>
        <p:spPr>
          <a:xfrm>
            <a:off x="4295439" y="5545579"/>
            <a:ext cx="670070" cy="1582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graphicFrame>
        <p:nvGraphicFramePr>
          <p:cNvPr id="82" name="表格 3">
            <a:extLst>
              <a:ext uri="{FF2B5EF4-FFF2-40B4-BE49-F238E27FC236}">
                <a16:creationId xmlns:a16="http://schemas.microsoft.com/office/drawing/2014/main" id="{E3D159CF-9A14-F74F-814C-03F6250D36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7322143"/>
              </p:ext>
            </p:extLst>
          </p:nvPr>
        </p:nvGraphicFramePr>
        <p:xfrm>
          <a:off x="5929519" y="4766206"/>
          <a:ext cx="1434870" cy="14859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6974">
                  <a:extLst>
                    <a:ext uri="{9D8B030D-6E8A-4147-A177-3AD203B41FA5}">
                      <a16:colId xmlns:a16="http://schemas.microsoft.com/office/drawing/2014/main" val="3768779981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1626313198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439155643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4077580916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3637269662"/>
                    </a:ext>
                  </a:extLst>
                </a:gridCol>
              </a:tblGrid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450425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31039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531848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8840822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6355077"/>
                  </a:ext>
                </a:extLst>
              </a:tr>
            </a:tbl>
          </a:graphicData>
        </a:graphic>
      </p:graphicFrame>
      <p:sp>
        <p:nvSpPr>
          <p:cNvPr id="83" name="文字方塊 82">
            <a:extLst>
              <a:ext uri="{FF2B5EF4-FFF2-40B4-BE49-F238E27FC236}">
                <a16:creationId xmlns:a16="http://schemas.microsoft.com/office/drawing/2014/main" id="{B2C0C652-3F31-AA4A-9273-75EFB5AAC22B}"/>
              </a:ext>
            </a:extLst>
          </p:cNvPr>
          <p:cNvSpPr txBox="1"/>
          <p:nvPr/>
        </p:nvSpPr>
        <p:spPr>
          <a:xfrm>
            <a:off x="5870748" y="4438887"/>
            <a:ext cx="985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Matrix A</a:t>
            </a:r>
            <a:endParaRPr kumimoji="1" lang="zh-TW" altLang="en-US" dirty="0"/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223C9B2A-C0F0-8745-B8C4-6259B1C02DBE}"/>
              </a:ext>
            </a:extLst>
          </p:cNvPr>
          <p:cNvSpPr/>
          <p:nvPr/>
        </p:nvSpPr>
        <p:spPr>
          <a:xfrm>
            <a:off x="6488761" y="5375355"/>
            <a:ext cx="862307" cy="9011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5" name="文字方塊 84">
            <a:extLst>
              <a:ext uri="{FF2B5EF4-FFF2-40B4-BE49-F238E27FC236}">
                <a16:creationId xmlns:a16="http://schemas.microsoft.com/office/drawing/2014/main" id="{37F8124C-FA44-5E45-AF14-AAC85C47C00A}"/>
              </a:ext>
            </a:extLst>
          </p:cNvPr>
          <p:cNvSpPr txBox="1"/>
          <p:nvPr/>
        </p:nvSpPr>
        <p:spPr>
          <a:xfrm>
            <a:off x="7455790" y="5901403"/>
            <a:ext cx="1292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Iteration 8</a:t>
            </a:r>
            <a:endParaRPr kumimoji="1" lang="zh-TW" altLang="en-US" dirty="0"/>
          </a:p>
        </p:txBody>
      </p:sp>
      <p:graphicFrame>
        <p:nvGraphicFramePr>
          <p:cNvPr id="86" name="表格 3">
            <a:extLst>
              <a:ext uri="{FF2B5EF4-FFF2-40B4-BE49-F238E27FC236}">
                <a16:creationId xmlns:a16="http://schemas.microsoft.com/office/drawing/2014/main" id="{8695D85A-B509-E040-86BE-E8D7689CD7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9624255"/>
              </p:ext>
            </p:extLst>
          </p:nvPr>
        </p:nvGraphicFramePr>
        <p:xfrm>
          <a:off x="7563392" y="4764066"/>
          <a:ext cx="806025" cy="8915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8675">
                  <a:extLst>
                    <a:ext uri="{9D8B030D-6E8A-4147-A177-3AD203B41FA5}">
                      <a16:colId xmlns:a16="http://schemas.microsoft.com/office/drawing/2014/main" val="3768779981"/>
                    </a:ext>
                  </a:extLst>
                </a:gridCol>
                <a:gridCol w="268675">
                  <a:extLst>
                    <a:ext uri="{9D8B030D-6E8A-4147-A177-3AD203B41FA5}">
                      <a16:colId xmlns:a16="http://schemas.microsoft.com/office/drawing/2014/main" val="1626313198"/>
                    </a:ext>
                  </a:extLst>
                </a:gridCol>
                <a:gridCol w="268675">
                  <a:extLst>
                    <a:ext uri="{9D8B030D-6E8A-4147-A177-3AD203B41FA5}">
                      <a16:colId xmlns:a16="http://schemas.microsoft.com/office/drawing/2014/main" val="4193715377"/>
                    </a:ext>
                  </a:extLst>
                </a:gridCol>
              </a:tblGrid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450425"/>
                  </a:ext>
                </a:extLst>
              </a:tr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31039"/>
                  </a:ext>
                </a:extLst>
              </a:tr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531848"/>
                  </a:ext>
                </a:extLst>
              </a:tr>
            </a:tbl>
          </a:graphicData>
        </a:graphic>
      </p:graphicFrame>
      <p:sp>
        <p:nvSpPr>
          <p:cNvPr id="87" name="文字方塊 86">
            <a:extLst>
              <a:ext uri="{FF2B5EF4-FFF2-40B4-BE49-F238E27FC236}">
                <a16:creationId xmlns:a16="http://schemas.microsoft.com/office/drawing/2014/main" id="{E0C0D5E8-CFF0-644D-8A2B-C1C26AFA1260}"/>
              </a:ext>
            </a:extLst>
          </p:cNvPr>
          <p:cNvSpPr txBox="1"/>
          <p:nvPr/>
        </p:nvSpPr>
        <p:spPr>
          <a:xfrm>
            <a:off x="7378083" y="4443421"/>
            <a:ext cx="9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Matrix B</a:t>
            </a:r>
            <a:endParaRPr kumimoji="1" lang="zh-TW" altLang="en-US" dirty="0"/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5A3E9E0E-5F85-A04E-859F-A7E6829CB48B}"/>
              </a:ext>
            </a:extLst>
          </p:cNvPr>
          <p:cNvSpPr/>
          <p:nvPr/>
        </p:nvSpPr>
        <p:spPr>
          <a:xfrm>
            <a:off x="8100179" y="5373216"/>
            <a:ext cx="259002" cy="288034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9" name="向右箭號 88">
            <a:extLst>
              <a:ext uri="{FF2B5EF4-FFF2-40B4-BE49-F238E27FC236}">
                <a16:creationId xmlns:a16="http://schemas.microsoft.com/office/drawing/2014/main" id="{4454D605-62AF-7C49-B418-CBD038585540}"/>
              </a:ext>
            </a:extLst>
          </p:cNvPr>
          <p:cNvSpPr/>
          <p:nvPr/>
        </p:nvSpPr>
        <p:spPr>
          <a:xfrm>
            <a:off x="7416414" y="5528547"/>
            <a:ext cx="670070" cy="1582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42856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807705-E254-5B44-BC61-380D5707B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975798" cy="1325563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Kernel Computation Scan Pattern B (Column-based)</a:t>
            </a:r>
            <a:br>
              <a:rPr lang="en-US" altLang="zh-TW" dirty="0"/>
            </a:br>
            <a:br>
              <a:rPr lang="en-US" altLang="zh-TW" dirty="0"/>
            </a:br>
            <a:endParaRPr lang="zh-TW" altLang="en-US" dirty="0"/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B9666B66-1D58-4644-9B03-A2011225A82A}"/>
              </a:ext>
            </a:extLst>
          </p:cNvPr>
          <p:cNvGraphicFramePr>
            <a:graphicFrameLocks noGrp="1"/>
          </p:cNvGraphicFramePr>
          <p:nvPr/>
        </p:nvGraphicFramePr>
        <p:xfrm>
          <a:off x="309425" y="1185353"/>
          <a:ext cx="1434870" cy="14859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6974">
                  <a:extLst>
                    <a:ext uri="{9D8B030D-6E8A-4147-A177-3AD203B41FA5}">
                      <a16:colId xmlns:a16="http://schemas.microsoft.com/office/drawing/2014/main" val="3768779981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1626313198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439155643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4077580916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3637269662"/>
                    </a:ext>
                  </a:extLst>
                </a:gridCol>
              </a:tblGrid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450425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31039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531848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8840822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6355077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5F022B12-5120-D44B-9626-192FE3C1B8F7}"/>
              </a:ext>
            </a:extLst>
          </p:cNvPr>
          <p:cNvSpPr txBox="1"/>
          <p:nvPr/>
        </p:nvSpPr>
        <p:spPr>
          <a:xfrm>
            <a:off x="250654" y="858034"/>
            <a:ext cx="985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Matrix A</a:t>
            </a:r>
            <a:endParaRPr kumimoji="1" lang="zh-TW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103E403-3DD0-6D45-9754-F7C6F9455F71}"/>
              </a:ext>
            </a:extLst>
          </p:cNvPr>
          <p:cNvSpPr/>
          <p:nvPr/>
        </p:nvSpPr>
        <p:spPr>
          <a:xfrm>
            <a:off x="325317" y="1185352"/>
            <a:ext cx="862307" cy="9011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CA353A2-0F7D-7243-9AD8-0AD52C5A3A51}"/>
              </a:ext>
            </a:extLst>
          </p:cNvPr>
          <p:cNvSpPr txBox="1"/>
          <p:nvPr/>
        </p:nvSpPr>
        <p:spPr>
          <a:xfrm>
            <a:off x="1835696" y="2320550"/>
            <a:ext cx="1292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Iteration 0</a:t>
            </a:r>
            <a:endParaRPr kumimoji="1" lang="zh-TW" altLang="en-US" dirty="0"/>
          </a:p>
        </p:txBody>
      </p:sp>
      <p:graphicFrame>
        <p:nvGraphicFramePr>
          <p:cNvPr id="13" name="表格 3">
            <a:extLst>
              <a:ext uri="{FF2B5EF4-FFF2-40B4-BE49-F238E27FC236}">
                <a16:creationId xmlns:a16="http://schemas.microsoft.com/office/drawing/2014/main" id="{33784B72-E0B6-3246-96FD-190C5788D214}"/>
              </a:ext>
            </a:extLst>
          </p:cNvPr>
          <p:cNvGraphicFramePr>
            <a:graphicFrameLocks noGrp="1"/>
          </p:cNvGraphicFramePr>
          <p:nvPr/>
        </p:nvGraphicFramePr>
        <p:xfrm>
          <a:off x="1943298" y="1183213"/>
          <a:ext cx="806025" cy="8915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8675">
                  <a:extLst>
                    <a:ext uri="{9D8B030D-6E8A-4147-A177-3AD203B41FA5}">
                      <a16:colId xmlns:a16="http://schemas.microsoft.com/office/drawing/2014/main" val="3768779981"/>
                    </a:ext>
                  </a:extLst>
                </a:gridCol>
                <a:gridCol w="268675">
                  <a:extLst>
                    <a:ext uri="{9D8B030D-6E8A-4147-A177-3AD203B41FA5}">
                      <a16:colId xmlns:a16="http://schemas.microsoft.com/office/drawing/2014/main" val="1626313198"/>
                    </a:ext>
                  </a:extLst>
                </a:gridCol>
                <a:gridCol w="268675">
                  <a:extLst>
                    <a:ext uri="{9D8B030D-6E8A-4147-A177-3AD203B41FA5}">
                      <a16:colId xmlns:a16="http://schemas.microsoft.com/office/drawing/2014/main" val="4193715377"/>
                    </a:ext>
                  </a:extLst>
                </a:gridCol>
              </a:tblGrid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450425"/>
                  </a:ext>
                </a:extLst>
              </a:tr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31039"/>
                  </a:ext>
                </a:extLst>
              </a:tr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531848"/>
                  </a:ext>
                </a:extLst>
              </a:tr>
            </a:tbl>
          </a:graphicData>
        </a:graphic>
      </p:graphicFrame>
      <p:sp>
        <p:nvSpPr>
          <p:cNvPr id="14" name="文字方塊 13">
            <a:extLst>
              <a:ext uri="{FF2B5EF4-FFF2-40B4-BE49-F238E27FC236}">
                <a16:creationId xmlns:a16="http://schemas.microsoft.com/office/drawing/2014/main" id="{1F33113B-CA3C-2C43-B192-2B9F367885B2}"/>
              </a:ext>
            </a:extLst>
          </p:cNvPr>
          <p:cNvSpPr txBox="1"/>
          <p:nvPr/>
        </p:nvSpPr>
        <p:spPr>
          <a:xfrm>
            <a:off x="1757989" y="862568"/>
            <a:ext cx="9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Matrix B</a:t>
            </a:r>
            <a:endParaRPr kumimoji="1" lang="zh-TW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77835C2-34A6-3C4A-99C8-4D5ED1F43329}"/>
              </a:ext>
            </a:extLst>
          </p:cNvPr>
          <p:cNvSpPr/>
          <p:nvPr/>
        </p:nvSpPr>
        <p:spPr>
          <a:xfrm>
            <a:off x="1936735" y="1183213"/>
            <a:ext cx="259002" cy="288034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" name="向右箭號 6">
            <a:extLst>
              <a:ext uri="{FF2B5EF4-FFF2-40B4-BE49-F238E27FC236}">
                <a16:creationId xmlns:a16="http://schemas.microsoft.com/office/drawing/2014/main" id="{55DB6912-2920-EF4D-919B-8B74CAE52FEE}"/>
              </a:ext>
            </a:extLst>
          </p:cNvPr>
          <p:cNvSpPr/>
          <p:nvPr/>
        </p:nvSpPr>
        <p:spPr>
          <a:xfrm>
            <a:off x="1252970" y="1338544"/>
            <a:ext cx="670070" cy="1582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graphicFrame>
        <p:nvGraphicFramePr>
          <p:cNvPr id="25" name="表格 3">
            <a:extLst>
              <a:ext uri="{FF2B5EF4-FFF2-40B4-BE49-F238E27FC236}">
                <a16:creationId xmlns:a16="http://schemas.microsoft.com/office/drawing/2014/main" id="{485915F3-10D3-7646-A762-9C99E0B3B1AC}"/>
              </a:ext>
            </a:extLst>
          </p:cNvPr>
          <p:cNvGraphicFramePr>
            <a:graphicFrameLocks noGrp="1"/>
          </p:cNvGraphicFramePr>
          <p:nvPr/>
        </p:nvGraphicFramePr>
        <p:xfrm>
          <a:off x="3106231" y="1180222"/>
          <a:ext cx="1434870" cy="14859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6974">
                  <a:extLst>
                    <a:ext uri="{9D8B030D-6E8A-4147-A177-3AD203B41FA5}">
                      <a16:colId xmlns:a16="http://schemas.microsoft.com/office/drawing/2014/main" val="3768779981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1626313198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439155643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4077580916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3637269662"/>
                    </a:ext>
                  </a:extLst>
                </a:gridCol>
              </a:tblGrid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450425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31039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531848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8840822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6355077"/>
                  </a:ext>
                </a:extLst>
              </a:tr>
            </a:tbl>
          </a:graphicData>
        </a:graphic>
      </p:graphicFrame>
      <p:sp>
        <p:nvSpPr>
          <p:cNvPr id="26" name="文字方塊 25">
            <a:extLst>
              <a:ext uri="{FF2B5EF4-FFF2-40B4-BE49-F238E27FC236}">
                <a16:creationId xmlns:a16="http://schemas.microsoft.com/office/drawing/2014/main" id="{D2A1CC64-8C42-6047-AD7F-64FBCF0AF796}"/>
              </a:ext>
            </a:extLst>
          </p:cNvPr>
          <p:cNvSpPr txBox="1"/>
          <p:nvPr/>
        </p:nvSpPr>
        <p:spPr>
          <a:xfrm>
            <a:off x="2932687" y="852903"/>
            <a:ext cx="985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Matrix A</a:t>
            </a:r>
            <a:endParaRPr kumimoji="1" lang="zh-TW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B9DDF71-4155-4D43-BEF9-63FBAFFFB352}"/>
              </a:ext>
            </a:extLst>
          </p:cNvPr>
          <p:cNvSpPr/>
          <p:nvPr/>
        </p:nvSpPr>
        <p:spPr>
          <a:xfrm>
            <a:off x="3133629" y="1447694"/>
            <a:ext cx="862307" cy="9011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B9D0BA70-9718-A148-8CC6-8324615309B0}"/>
              </a:ext>
            </a:extLst>
          </p:cNvPr>
          <p:cNvSpPr txBox="1"/>
          <p:nvPr/>
        </p:nvSpPr>
        <p:spPr>
          <a:xfrm>
            <a:off x="4632502" y="2315419"/>
            <a:ext cx="1292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Iteration 1</a:t>
            </a:r>
            <a:endParaRPr kumimoji="1" lang="zh-TW" altLang="en-US" dirty="0"/>
          </a:p>
        </p:txBody>
      </p:sp>
      <p:graphicFrame>
        <p:nvGraphicFramePr>
          <p:cNvPr id="30" name="表格 3">
            <a:extLst>
              <a:ext uri="{FF2B5EF4-FFF2-40B4-BE49-F238E27FC236}">
                <a16:creationId xmlns:a16="http://schemas.microsoft.com/office/drawing/2014/main" id="{33FC97E5-055F-CB49-931B-63488F835947}"/>
              </a:ext>
            </a:extLst>
          </p:cNvPr>
          <p:cNvGraphicFramePr>
            <a:graphicFrameLocks noGrp="1"/>
          </p:cNvGraphicFramePr>
          <p:nvPr/>
        </p:nvGraphicFramePr>
        <p:xfrm>
          <a:off x="4740104" y="1178082"/>
          <a:ext cx="806025" cy="8915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8675">
                  <a:extLst>
                    <a:ext uri="{9D8B030D-6E8A-4147-A177-3AD203B41FA5}">
                      <a16:colId xmlns:a16="http://schemas.microsoft.com/office/drawing/2014/main" val="3768779981"/>
                    </a:ext>
                  </a:extLst>
                </a:gridCol>
                <a:gridCol w="268675">
                  <a:extLst>
                    <a:ext uri="{9D8B030D-6E8A-4147-A177-3AD203B41FA5}">
                      <a16:colId xmlns:a16="http://schemas.microsoft.com/office/drawing/2014/main" val="1626313198"/>
                    </a:ext>
                  </a:extLst>
                </a:gridCol>
                <a:gridCol w="268675">
                  <a:extLst>
                    <a:ext uri="{9D8B030D-6E8A-4147-A177-3AD203B41FA5}">
                      <a16:colId xmlns:a16="http://schemas.microsoft.com/office/drawing/2014/main" val="4193715377"/>
                    </a:ext>
                  </a:extLst>
                </a:gridCol>
              </a:tblGrid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450425"/>
                  </a:ext>
                </a:extLst>
              </a:tr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31039"/>
                  </a:ext>
                </a:extLst>
              </a:tr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531848"/>
                  </a:ext>
                </a:extLst>
              </a:tr>
            </a:tbl>
          </a:graphicData>
        </a:graphic>
      </p:graphicFrame>
      <p:sp>
        <p:nvSpPr>
          <p:cNvPr id="31" name="文字方塊 30">
            <a:extLst>
              <a:ext uri="{FF2B5EF4-FFF2-40B4-BE49-F238E27FC236}">
                <a16:creationId xmlns:a16="http://schemas.microsoft.com/office/drawing/2014/main" id="{7501D005-8941-2E41-A029-44AF25A79E87}"/>
              </a:ext>
            </a:extLst>
          </p:cNvPr>
          <p:cNvSpPr txBox="1"/>
          <p:nvPr/>
        </p:nvSpPr>
        <p:spPr>
          <a:xfrm>
            <a:off x="4554795" y="857437"/>
            <a:ext cx="9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Matrix B</a:t>
            </a:r>
            <a:endParaRPr kumimoji="1" lang="zh-TW" altLang="en-US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0F26203-9DBA-7046-8370-BC3D7E9D363E}"/>
              </a:ext>
            </a:extLst>
          </p:cNvPr>
          <p:cNvSpPr/>
          <p:nvPr/>
        </p:nvSpPr>
        <p:spPr>
          <a:xfrm>
            <a:off x="4745046" y="1445555"/>
            <a:ext cx="259002" cy="288034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3" name="向右箭號 32">
            <a:extLst>
              <a:ext uri="{FF2B5EF4-FFF2-40B4-BE49-F238E27FC236}">
                <a16:creationId xmlns:a16="http://schemas.microsoft.com/office/drawing/2014/main" id="{75F74AFA-183F-374E-8AA0-E3D2A3BAB802}"/>
              </a:ext>
            </a:extLst>
          </p:cNvPr>
          <p:cNvSpPr/>
          <p:nvPr/>
        </p:nvSpPr>
        <p:spPr>
          <a:xfrm>
            <a:off x="4036650" y="1601727"/>
            <a:ext cx="670070" cy="1582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graphicFrame>
        <p:nvGraphicFramePr>
          <p:cNvPr id="34" name="表格 3">
            <a:extLst>
              <a:ext uri="{FF2B5EF4-FFF2-40B4-BE49-F238E27FC236}">
                <a16:creationId xmlns:a16="http://schemas.microsoft.com/office/drawing/2014/main" id="{E8C01339-9420-D74A-B587-5F6BE948B9D9}"/>
              </a:ext>
            </a:extLst>
          </p:cNvPr>
          <p:cNvGraphicFramePr>
            <a:graphicFrameLocks noGrp="1"/>
          </p:cNvGraphicFramePr>
          <p:nvPr/>
        </p:nvGraphicFramePr>
        <p:xfrm>
          <a:off x="5929519" y="1164031"/>
          <a:ext cx="1434870" cy="14859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6974">
                  <a:extLst>
                    <a:ext uri="{9D8B030D-6E8A-4147-A177-3AD203B41FA5}">
                      <a16:colId xmlns:a16="http://schemas.microsoft.com/office/drawing/2014/main" val="3768779981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1626313198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439155643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4077580916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3637269662"/>
                    </a:ext>
                  </a:extLst>
                </a:gridCol>
              </a:tblGrid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450425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31039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531848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8840822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6355077"/>
                  </a:ext>
                </a:extLst>
              </a:tr>
            </a:tbl>
          </a:graphicData>
        </a:graphic>
      </p:graphicFrame>
      <p:sp>
        <p:nvSpPr>
          <p:cNvPr id="35" name="文字方塊 34">
            <a:extLst>
              <a:ext uri="{FF2B5EF4-FFF2-40B4-BE49-F238E27FC236}">
                <a16:creationId xmlns:a16="http://schemas.microsoft.com/office/drawing/2014/main" id="{E64FDD2B-6033-634F-BD85-E140357092EB}"/>
              </a:ext>
            </a:extLst>
          </p:cNvPr>
          <p:cNvSpPr txBox="1"/>
          <p:nvPr/>
        </p:nvSpPr>
        <p:spPr>
          <a:xfrm>
            <a:off x="5870748" y="836712"/>
            <a:ext cx="985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Matrix A</a:t>
            </a:r>
            <a:endParaRPr kumimoji="1" lang="zh-TW" altLang="en-US" dirty="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04E2FF7-BD37-AF4C-9A1A-391C71701F3D}"/>
              </a:ext>
            </a:extLst>
          </p:cNvPr>
          <p:cNvSpPr/>
          <p:nvPr/>
        </p:nvSpPr>
        <p:spPr>
          <a:xfrm>
            <a:off x="5941940" y="1735726"/>
            <a:ext cx="862307" cy="9011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7D613286-8870-CA40-B40F-158EF656BF21}"/>
              </a:ext>
            </a:extLst>
          </p:cNvPr>
          <p:cNvSpPr txBox="1"/>
          <p:nvPr/>
        </p:nvSpPr>
        <p:spPr>
          <a:xfrm>
            <a:off x="7455790" y="2299228"/>
            <a:ext cx="1292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Iteration 2</a:t>
            </a:r>
            <a:endParaRPr kumimoji="1" lang="zh-TW" altLang="en-US" dirty="0"/>
          </a:p>
        </p:txBody>
      </p:sp>
      <p:graphicFrame>
        <p:nvGraphicFramePr>
          <p:cNvPr id="38" name="表格 3">
            <a:extLst>
              <a:ext uri="{FF2B5EF4-FFF2-40B4-BE49-F238E27FC236}">
                <a16:creationId xmlns:a16="http://schemas.microsoft.com/office/drawing/2014/main" id="{5FC65C5E-B29C-3E4E-9194-AC49841255B2}"/>
              </a:ext>
            </a:extLst>
          </p:cNvPr>
          <p:cNvGraphicFramePr>
            <a:graphicFrameLocks noGrp="1"/>
          </p:cNvGraphicFramePr>
          <p:nvPr/>
        </p:nvGraphicFramePr>
        <p:xfrm>
          <a:off x="7563392" y="1161891"/>
          <a:ext cx="806025" cy="8915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8675">
                  <a:extLst>
                    <a:ext uri="{9D8B030D-6E8A-4147-A177-3AD203B41FA5}">
                      <a16:colId xmlns:a16="http://schemas.microsoft.com/office/drawing/2014/main" val="3768779981"/>
                    </a:ext>
                  </a:extLst>
                </a:gridCol>
                <a:gridCol w="268675">
                  <a:extLst>
                    <a:ext uri="{9D8B030D-6E8A-4147-A177-3AD203B41FA5}">
                      <a16:colId xmlns:a16="http://schemas.microsoft.com/office/drawing/2014/main" val="1626313198"/>
                    </a:ext>
                  </a:extLst>
                </a:gridCol>
                <a:gridCol w="268675">
                  <a:extLst>
                    <a:ext uri="{9D8B030D-6E8A-4147-A177-3AD203B41FA5}">
                      <a16:colId xmlns:a16="http://schemas.microsoft.com/office/drawing/2014/main" val="4193715377"/>
                    </a:ext>
                  </a:extLst>
                </a:gridCol>
              </a:tblGrid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450425"/>
                  </a:ext>
                </a:extLst>
              </a:tr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31039"/>
                  </a:ext>
                </a:extLst>
              </a:tr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531848"/>
                  </a:ext>
                </a:extLst>
              </a:tr>
            </a:tbl>
          </a:graphicData>
        </a:graphic>
      </p:graphicFrame>
      <p:sp>
        <p:nvSpPr>
          <p:cNvPr id="39" name="文字方塊 38">
            <a:extLst>
              <a:ext uri="{FF2B5EF4-FFF2-40B4-BE49-F238E27FC236}">
                <a16:creationId xmlns:a16="http://schemas.microsoft.com/office/drawing/2014/main" id="{FC9C4475-838D-5E44-BC9B-EF4F18C5E922}"/>
              </a:ext>
            </a:extLst>
          </p:cNvPr>
          <p:cNvSpPr txBox="1"/>
          <p:nvPr/>
        </p:nvSpPr>
        <p:spPr>
          <a:xfrm>
            <a:off x="7378083" y="841246"/>
            <a:ext cx="9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Matrix B</a:t>
            </a:r>
            <a:endParaRPr kumimoji="1" lang="zh-TW" altLang="en-US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C45B9BA-29A1-3F45-BC9B-CE949527FD68}"/>
              </a:ext>
            </a:extLst>
          </p:cNvPr>
          <p:cNvSpPr/>
          <p:nvPr/>
        </p:nvSpPr>
        <p:spPr>
          <a:xfrm>
            <a:off x="7553358" y="1733587"/>
            <a:ext cx="259002" cy="288034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1" name="向右箭號 40">
            <a:extLst>
              <a:ext uri="{FF2B5EF4-FFF2-40B4-BE49-F238E27FC236}">
                <a16:creationId xmlns:a16="http://schemas.microsoft.com/office/drawing/2014/main" id="{BE5B99D8-C165-B04E-83A2-7CD86E1EE2DE}"/>
              </a:ext>
            </a:extLst>
          </p:cNvPr>
          <p:cNvSpPr/>
          <p:nvPr/>
        </p:nvSpPr>
        <p:spPr>
          <a:xfrm>
            <a:off x="6869593" y="1888918"/>
            <a:ext cx="670070" cy="1582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graphicFrame>
        <p:nvGraphicFramePr>
          <p:cNvPr id="42" name="表格 3">
            <a:extLst>
              <a:ext uri="{FF2B5EF4-FFF2-40B4-BE49-F238E27FC236}">
                <a16:creationId xmlns:a16="http://schemas.microsoft.com/office/drawing/2014/main" id="{2C8859E2-092E-354D-87AF-BACE2DFFA445}"/>
              </a:ext>
            </a:extLst>
          </p:cNvPr>
          <p:cNvGraphicFramePr>
            <a:graphicFrameLocks noGrp="1"/>
          </p:cNvGraphicFramePr>
          <p:nvPr/>
        </p:nvGraphicFramePr>
        <p:xfrm>
          <a:off x="309425" y="2977250"/>
          <a:ext cx="1434870" cy="14859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6974">
                  <a:extLst>
                    <a:ext uri="{9D8B030D-6E8A-4147-A177-3AD203B41FA5}">
                      <a16:colId xmlns:a16="http://schemas.microsoft.com/office/drawing/2014/main" val="3768779981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1626313198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439155643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4077580916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3637269662"/>
                    </a:ext>
                  </a:extLst>
                </a:gridCol>
              </a:tblGrid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450425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31039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531848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8840822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6355077"/>
                  </a:ext>
                </a:extLst>
              </a:tr>
            </a:tbl>
          </a:graphicData>
        </a:graphic>
      </p:graphicFrame>
      <p:sp>
        <p:nvSpPr>
          <p:cNvPr id="43" name="文字方塊 42">
            <a:extLst>
              <a:ext uri="{FF2B5EF4-FFF2-40B4-BE49-F238E27FC236}">
                <a16:creationId xmlns:a16="http://schemas.microsoft.com/office/drawing/2014/main" id="{02A20902-EABF-534A-877E-A43A1414C1D4}"/>
              </a:ext>
            </a:extLst>
          </p:cNvPr>
          <p:cNvSpPr txBox="1"/>
          <p:nvPr/>
        </p:nvSpPr>
        <p:spPr>
          <a:xfrm>
            <a:off x="250654" y="2649931"/>
            <a:ext cx="985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Matrix A</a:t>
            </a:r>
            <a:endParaRPr kumimoji="1" lang="zh-TW" altLang="en-US" dirty="0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BC39A276-0154-2E48-8544-FCB62E3102FB}"/>
              </a:ext>
            </a:extLst>
          </p:cNvPr>
          <p:cNvSpPr/>
          <p:nvPr/>
        </p:nvSpPr>
        <p:spPr>
          <a:xfrm>
            <a:off x="613348" y="2959862"/>
            <a:ext cx="862307" cy="9011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AD197264-4550-9D43-AAD9-2B471FC2AC3F}"/>
              </a:ext>
            </a:extLst>
          </p:cNvPr>
          <p:cNvSpPr txBox="1"/>
          <p:nvPr/>
        </p:nvSpPr>
        <p:spPr>
          <a:xfrm>
            <a:off x="1835696" y="4112447"/>
            <a:ext cx="1292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Iteration 3</a:t>
            </a:r>
            <a:endParaRPr kumimoji="1" lang="zh-TW" altLang="en-US" dirty="0"/>
          </a:p>
        </p:txBody>
      </p:sp>
      <p:graphicFrame>
        <p:nvGraphicFramePr>
          <p:cNvPr id="46" name="表格 3">
            <a:extLst>
              <a:ext uri="{FF2B5EF4-FFF2-40B4-BE49-F238E27FC236}">
                <a16:creationId xmlns:a16="http://schemas.microsoft.com/office/drawing/2014/main" id="{DEB8C749-7514-A446-BCC0-8CFB064B7E43}"/>
              </a:ext>
            </a:extLst>
          </p:cNvPr>
          <p:cNvGraphicFramePr>
            <a:graphicFrameLocks noGrp="1"/>
          </p:cNvGraphicFramePr>
          <p:nvPr/>
        </p:nvGraphicFramePr>
        <p:xfrm>
          <a:off x="1943298" y="2975110"/>
          <a:ext cx="806025" cy="8915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8675">
                  <a:extLst>
                    <a:ext uri="{9D8B030D-6E8A-4147-A177-3AD203B41FA5}">
                      <a16:colId xmlns:a16="http://schemas.microsoft.com/office/drawing/2014/main" val="3768779981"/>
                    </a:ext>
                  </a:extLst>
                </a:gridCol>
                <a:gridCol w="268675">
                  <a:extLst>
                    <a:ext uri="{9D8B030D-6E8A-4147-A177-3AD203B41FA5}">
                      <a16:colId xmlns:a16="http://schemas.microsoft.com/office/drawing/2014/main" val="1626313198"/>
                    </a:ext>
                  </a:extLst>
                </a:gridCol>
                <a:gridCol w="268675">
                  <a:extLst>
                    <a:ext uri="{9D8B030D-6E8A-4147-A177-3AD203B41FA5}">
                      <a16:colId xmlns:a16="http://schemas.microsoft.com/office/drawing/2014/main" val="4193715377"/>
                    </a:ext>
                  </a:extLst>
                </a:gridCol>
              </a:tblGrid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450425"/>
                  </a:ext>
                </a:extLst>
              </a:tr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31039"/>
                  </a:ext>
                </a:extLst>
              </a:tr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531848"/>
                  </a:ext>
                </a:extLst>
              </a:tr>
            </a:tbl>
          </a:graphicData>
        </a:graphic>
      </p:graphicFrame>
      <p:sp>
        <p:nvSpPr>
          <p:cNvPr id="47" name="文字方塊 46">
            <a:extLst>
              <a:ext uri="{FF2B5EF4-FFF2-40B4-BE49-F238E27FC236}">
                <a16:creationId xmlns:a16="http://schemas.microsoft.com/office/drawing/2014/main" id="{C9CA6465-4319-2949-B743-90E219855468}"/>
              </a:ext>
            </a:extLst>
          </p:cNvPr>
          <p:cNvSpPr txBox="1"/>
          <p:nvPr/>
        </p:nvSpPr>
        <p:spPr>
          <a:xfrm>
            <a:off x="1757989" y="2654465"/>
            <a:ext cx="9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Matrix B</a:t>
            </a:r>
            <a:endParaRPr kumimoji="1" lang="zh-TW" altLang="en-US" dirty="0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E1F4C6F5-8C37-8943-8148-45C8BB5EC611}"/>
              </a:ext>
            </a:extLst>
          </p:cNvPr>
          <p:cNvSpPr/>
          <p:nvPr/>
        </p:nvSpPr>
        <p:spPr>
          <a:xfrm>
            <a:off x="2224766" y="2957723"/>
            <a:ext cx="259002" cy="288034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9" name="向右箭號 48">
            <a:extLst>
              <a:ext uri="{FF2B5EF4-FFF2-40B4-BE49-F238E27FC236}">
                <a16:creationId xmlns:a16="http://schemas.microsoft.com/office/drawing/2014/main" id="{2EA64478-3139-E446-8D34-3280E371B85F}"/>
              </a:ext>
            </a:extLst>
          </p:cNvPr>
          <p:cNvSpPr/>
          <p:nvPr/>
        </p:nvSpPr>
        <p:spPr>
          <a:xfrm>
            <a:off x="1541001" y="3113054"/>
            <a:ext cx="670070" cy="1582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graphicFrame>
        <p:nvGraphicFramePr>
          <p:cNvPr id="50" name="表格 3">
            <a:extLst>
              <a:ext uri="{FF2B5EF4-FFF2-40B4-BE49-F238E27FC236}">
                <a16:creationId xmlns:a16="http://schemas.microsoft.com/office/drawing/2014/main" id="{CBDCE41E-AC6F-AD46-8E67-57099341F57B}"/>
              </a:ext>
            </a:extLst>
          </p:cNvPr>
          <p:cNvGraphicFramePr>
            <a:graphicFrameLocks noGrp="1"/>
          </p:cNvGraphicFramePr>
          <p:nvPr/>
        </p:nvGraphicFramePr>
        <p:xfrm>
          <a:off x="3106231" y="2972119"/>
          <a:ext cx="1434870" cy="14859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6974">
                  <a:extLst>
                    <a:ext uri="{9D8B030D-6E8A-4147-A177-3AD203B41FA5}">
                      <a16:colId xmlns:a16="http://schemas.microsoft.com/office/drawing/2014/main" val="3768779981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1626313198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439155643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4077580916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3637269662"/>
                    </a:ext>
                  </a:extLst>
                </a:gridCol>
              </a:tblGrid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450425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31039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531848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8840822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6355077"/>
                  </a:ext>
                </a:extLst>
              </a:tr>
            </a:tbl>
          </a:graphicData>
        </a:graphic>
      </p:graphicFrame>
      <p:sp>
        <p:nvSpPr>
          <p:cNvPr id="51" name="文字方塊 50">
            <a:extLst>
              <a:ext uri="{FF2B5EF4-FFF2-40B4-BE49-F238E27FC236}">
                <a16:creationId xmlns:a16="http://schemas.microsoft.com/office/drawing/2014/main" id="{B1407295-B207-D343-BB3B-CF463BEB9EB6}"/>
              </a:ext>
            </a:extLst>
          </p:cNvPr>
          <p:cNvSpPr txBox="1"/>
          <p:nvPr/>
        </p:nvSpPr>
        <p:spPr>
          <a:xfrm>
            <a:off x="2932687" y="2644800"/>
            <a:ext cx="985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Matrix A</a:t>
            </a:r>
            <a:endParaRPr kumimoji="1" lang="zh-TW" altLang="en-US" dirty="0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C7867243-554A-1F48-9D48-DC4EA830EEA3}"/>
              </a:ext>
            </a:extLst>
          </p:cNvPr>
          <p:cNvSpPr/>
          <p:nvPr/>
        </p:nvSpPr>
        <p:spPr>
          <a:xfrm>
            <a:off x="3392418" y="3247894"/>
            <a:ext cx="862307" cy="9011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5ACE009A-2CC5-6F41-8436-B8BB56816E93}"/>
              </a:ext>
            </a:extLst>
          </p:cNvPr>
          <p:cNvSpPr txBox="1"/>
          <p:nvPr/>
        </p:nvSpPr>
        <p:spPr>
          <a:xfrm>
            <a:off x="4632502" y="4107316"/>
            <a:ext cx="1292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Iteration 4</a:t>
            </a:r>
            <a:endParaRPr kumimoji="1" lang="zh-TW" altLang="en-US" dirty="0"/>
          </a:p>
        </p:txBody>
      </p:sp>
      <p:graphicFrame>
        <p:nvGraphicFramePr>
          <p:cNvPr id="54" name="表格 3">
            <a:extLst>
              <a:ext uri="{FF2B5EF4-FFF2-40B4-BE49-F238E27FC236}">
                <a16:creationId xmlns:a16="http://schemas.microsoft.com/office/drawing/2014/main" id="{4A88997C-8CE8-1648-8EF9-CB88B6A3A095}"/>
              </a:ext>
            </a:extLst>
          </p:cNvPr>
          <p:cNvGraphicFramePr>
            <a:graphicFrameLocks noGrp="1"/>
          </p:cNvGraphicFramePr>
          <p:nvPr/>
        </p:nvGraphicFramePr>
        <p:xfrm>
          <a:off x="4740104" y="2969979"/>
          <a:ext cx="806025" cy="8915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8675">
                  <a:extLst>
                    <a:ext uri="{9D8B030D-6E8A-4147-A177-3AD203B41FA5}">
                      <a16:colId xmlns:a16="http://schemas.microsoft.com/office/drawing/2014/main" val="3768779981"/>
                    </a:ext>
                  </a:extLst>
                </a:gridCol>
                <a:gridCol w="268675">
                  <a:extLst>
                    <a:ext uri="{9D8B030D-6E8A-4147-A177-3AD203B41FA5}">
                      <a16:colId xmlns:a16="http://schemas.microsoft.com/office/drawing/2014/main" val="1626313198"/>
                    </a:ext>
                  </a:extLst>
                </a:gridCol>
                <a:gridCol w="268675">
                  <a:extLst>
                    <a:ext uri="{9D8B030D-6E8A-4147-A177-3AD203B41FA5}">
                      <a16:colId xmlns:a16="http://schemas.microsoft.com/office/drawing/2014/main" val="4193715377"/>
                    </a:ext>
                  </a:extLst>
                </a:gridCol>
              </a:tblGrid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450425"/>
                  </a:ext>
                </a:extLst>
              </a:tr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31039"/>
                  </a:ext>
                </a:extLst>
              </a:tr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531848"/>
                  </a:ext>
                </a:extLst>
              </a:tr>
            </a:tbl>
          </a:graphicData>
        </a:graphic>
      </p:graphicFrame>
      <p:sp>
        <p:nvSpPr>
          <p:cNvPr id="55" name="文字方塊 54">
            <a:extLst>
              <a:ext uri="{FF2B5EF4-FFF2-40B4-BE49-F238E27FC236}">
                <a16:creationId xmlns:a16="http://schemas.microsoft.com/office/drawing/2014/main" id="{2CEFC6B5-9D2F-D64D-88C5-9E31B2630D0C}"/>
              </a:ext>
            </a:extLst>
          </p:cNvPr>
          <p:cNvSpPr txBox="1"/>
          <p:nvPr/>
        </p:nvSpPr>
        <p:spPr>
          <a:xfrm>
            <a:off x="4554795" y="2649334"/>
            <a:ext cx="9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Matrix B</a:t>
            </a:r>
            <a:endParaRPr kumimoji="1" lang="zh-TW" altLang="en-US" dirty="0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31BC9140-17D2-1C47-ACC6-922B56C24782}"/>
              </a:ext>
            </a:extLst>
          </p:cNvPr>
          <p:cNvSpPr/>
          <p:nvPr/>
        </p:nvSpPr>
        <p:spPr>
          <a:xfrm>
            <a:off x="5003835" y="3245755"/>
            <a:ext cx="259002" cy="288034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7" name="向右箭號 56">
            <a:extLst>
              <a:ext uri="{FF2B5EF4-FFF2-40B4-BE49-F238E27FC236}">
                <a16:creationId xmlns:a16="http://schemas.microsoft.com/office/drawing/2014/main" id="{961753E1-7444-6C47-983D-54A955AC9161}"/>
              </a:ext>
            </a:extLst>
          </p:cNvPr>
          <p:cNvSpPr/>
          <p:nvPr/>
        </p:nvSpPr>
        <p:spPr>
          <a:xfrm>
            <a:off x="4295439" y="3401927"/>
            <a:ext cx="670070" cy="1582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graphicFrame>
        <p:nvGraphicFramePr>
          <p:cNvPr id="58" name="表格 3">
            <a:extLst>
              <a:ext uri="{FF2B5EF4-FFF2-40B4-BE49-F238E27FC236}">
                <a16:creationId xmlns:a16="http://schemas.microsoft.com/office/drawing/2014/main" id="{964BD9CD-0581-5B48-A0D0-CD77CEBC29F1}"/>
              </a:ext>
            </a:extLst>
          </p:cNvPr>
          <p:cNvGraphicFramePr>
            <a:graphicFrameLocks noGrp="1"/>
          </p:cNvGraphicFramePr>
          <p:nvPr/>
        </p:nvGraphicFramePr>
        <p:xfrm>
          <a:off x="5929519" y="2955928"/>
          <a:ext cx="1434870" cy="14859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6974">
                  <a:extLst>
                    <a:ext uri="{9D8B030D-6E8A-4147-A177-3AD203B41FA5}">
                      <a16:colId xmlns:a16="http://schemas.microsoft.com/office/drawing/2014/main" val="3768779981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1626313198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439155643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4077580916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3637269662"/>
                    </a:ext>
                  </a:extLst>
                </a:gridCol>
              </a:tblGrid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450425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31039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531848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8840822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6355077"/>
                  </a:ext>
                </a:extLst>
              </a:tr>
            </a:tbl>
          </a:graphicData>
        </a:graphic>
      </p:graphicFrame>
      <p:sp>
        <p:nvSpPr>
          <p:cNvPr id="59" name="文字方塊 58">
            <a:extLst>
              <a:ext uri="{FF2B5EF4-FFF2-40B4-BE49-F238E27FC236}">
                <a16:creationId xmlns:a16="http://schemas.microsoft.com/office/drawing/2014/main" id="{019D8DDE-730B-6746-8E9D-8B2FE54E2D35}"/>
              </a:ext>
            </a:extLst>
          </p:cNvPr>
          <p:cNvSpPr txBox="1"/>
          <p:nvPr/>
        </p:nvSpPr>
        <p:spPr>
          <a:xfrm>
            <a:off x="5870748" y="2628609"/>
            <a:ext cx="985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Matrix A</a:t>
            </a:r>
            <a:endParaRPr kumimoji="1" lang="zh-TW" altLang="en-US" dirty="0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72F26F1A-AB36-A14C-AD98-8B3C1EC212EB}"/>
              </a:ext>
            </a:extLst>
          </p:cNvPr>
          <p:cNvSpPr/>
          <p:nvPr/>
        </p:nvSpPr>
        <p:spPr>
          <a:xfrm>
            <a:off x="6228184" y="3535926"/>
            <a:ext cx="862307" cy="9011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F56C19F9-B71D-F449-8ACE-F44ABE4031B9}"/>
              </a:ext>
            </a:extLst>
          </p:cNvPr>
          <p:cNvSpPr txBox="1"/>
          <p:nvPr/>
        </p:nvSpPr>
        <p:spPr>
          <a:xfrm>
            <a:off x="7455790" y="4091125"/>
            <a:ext cx="1292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Iteration 5</a:t>
            </a:r>
            <a:endParaRPr kumimoji="1" lang="zh-TW" altLang="en-US" dirty="0"/>
          </a:p>
        </p:txBody>
      </p:sp>
      <p:graphicFrame>
        <p:nvGraphicFramePr>
          <p:cNvPr id="62" name="表格 3">
            <a:extLst>
              <a:ext uri="{FF2B5EF4-FFF2-40B4-BE49-F238E27FC236}">
                <a16:creationId xmlns:a16="http://schemas.microsoft.com/office/drawing/2014/main" id="{A0365A2D-1B0B-CA44-AF76-640FDFE74108}"/>
              </a:ext>
            </a:extLst>
          </p:cNvPr>
          <p:cNvGraphicFramePr>
            <a:graphicFrameLocks noGrp="1"/>
          </p:cNvGraphicFramePr>
          <p:nvPr/>
        </p:nvGraphicFramePr>
        <p:xfrm>
          <a:off x="7563392" y="2953788"/>
          <a:ext cx="806025" cy="8915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8675">
                  <a:extLst>
                    <a:ext uri="{9D8B030D-6E8A-4147-A177-3AD203B41FA5}">
                      <a16:colId xmlns:a16="http://schemas.microsoft.com/office/drawing/2014/main" val="3768779981"/>
                    </a:ext>
                  </a:extLst>
                </a:gridCol>
                <a:gridCol w="268675">
                  <a:extLst>
                    <a:ext uri="{9D8B030D-6E8A-4147-A177-3AD203B41FA5}">
                      <a16:colId xmlns:a16="http://schemas.microsoft.com/office/drawing/2014/main" val="1626313198"/>
                    </a:ext>
                  </a:extLst>
                </a:gridCol>
                <a:gridCol w="268675">
                  <a:extLst>
                    <a:ext uri="{9D8B030D-6E8A-4147-A177-3AD203B41FA5}">
                      <a16:colId xmlns:a16="http://schemas.microsoft.com/office/drawing/2014/main" val="4193715377"/>
                    </a:ext>
                  </a:extLst>
                </a:gridCol>
              </a:tblGrid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450425"/>
                  </a:ext>
                </a:extLst>
              </a:tr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31039"/>
                  </a:ext>
                </a:extLst>
              </a:tr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531848"/>
                  </a:ext>
                </a:extLst>
              </a:tr>
            </a:tbl>
          </a:graphicData>
        </a:graphic>
      </p:graphicFrame>
      <p:sp>
        <p:nvSpPr>
          <p:cNvPr id="63" name="文字方塊 62">
            <a:extLst>
              <a:ext uri="{FF2B5EF4-FFF2-40B4-BE49-F238E27FC236}">
                <a16:creationId xmlns:a16="http://schemas.microsoft.com/office/drawing/2014/main" id="{BA748810-A132-DE43-AC28-8F8F286E1D09}"/>
              </a:ext>
            </a:extLst>
          </p:cNvPr>
          <p:cNvSpPr txBox="1"/>
          <p:nvPr/>
        </p:nvSpPr>
        <p:spPr>
          <a:xfrm>
            <a:off x="7378083" y="2633143"/>
            <a:ext cx="9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Matrix B</a:t>
            </a:r>
            <a:endParaRPr kumimoji="1" lang="zh-TW" altLang="en-US" dirty="0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D347C628-6A7A-8043-89C2-1C625C6F9011}"/>
              </a:ext>
            </a:extLst>
          </p:cNvPr>
          <p:cNvSpPr/>
          <p:nvPr/>
        </p:nvSpPr>
        <p:spPr>
          <a:xfrm>
            <a:off x="7839602" y="3533787"/>
            <a:ext cx="259002" cy="288034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5" name="向右箭號 64">
            <a:extLst>
              <a:ext uri="{FF2B5EF4-FFF2-40B4-BE49-F238E27FC236}">
                <a16:creationId xmlns:a16="http://schemas.microsoft.com/office/drawing/2014/main" id="{7C08A00F-7D3C-1741-B30F-F09B19311324}"/>
              </a:ext>
            </a:extLst>
          </p:cNvPr>
          <p:cNvSpPr/>
          <p:nvPr/>
        </p:nvSpPr>
        <p:spPr>
          <a:xfrm>
            <a:off x="7155837" y="3689118"/>
            <a:ext cx="670070" cy="1582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graphicFrame>
        <p:nvGraphicFramePr>
          <p:cNvPr id="66" name="表格 3">
            <a:extLst>
              <a:ext uri="{FF2B5EF4-FFF2-40B4-BE49-F238E27FC236}">
                <a16:creationId xmlns:a16="http://schemas.microsoft.com/office/drawing/2014/main" id="{C2373938-3CE7-8240-9E0D-6B1DDAF9E891}"/>
              </a:ext>
            </a:extLst>
          </p:cNvPr>
          <p:cNvGraphicFramePr>
            <a:graphicFrameLocks noGrp="1"/>
          </p:cNvGraphicFramePr>
          <p:nvPr/>
        </p:nvGraphicFramePr>
        <p:xfrm>
          <a:off x="309425" y="4787528"/>
          <a:ext cx="1434870" cy="14859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6974">
                  <a:extLst>
                    <a:ext uri="{9D8B030D-6E8A-4147-A177-3AD203B41FA5}">
                      <a16:colId xmlns:a16="http://schemas.microsoft.com/office/drawing/2014/main" val="3768779981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1626313198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439155643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4077580916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3637269662"/>
                    </a:ext>
                  </a:extLst>
                </a:gridCol>
              </a:tblGrid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450425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31039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531848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8840822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6355077"/>
                  </a:ext>
                </a:extLst>
              </a:tr>
            </a:tbl>
          </a:graphicData>
        </a:graphic>
      </p:graphicFrame>
      <p:sp>
        <p:nvSpPr>
          <p:cNvPr id="67" name="文字方塊 66">
            <a:extLst>
              <a:ext uri="{FF2B5EF4-FFF2-40B4-BE49-F238E27FC236}">
                <a16:creationId xmlns:a16="http://schemas.microsoft.com/office/drawing/2014/main" id="{44AF50B0-26A5-7C49-8E3B-D0B6679AAB76}"/>
              </a:ext>
            </a:extLst>
          </p:cNvPr>
          <p:cNvSpPr txBox="1"/>
          <p:nvPr/>
        </p:nvSpPr>
        <p:spPr>
          <a:xfrm>
            <a:off x="250654" y="4460209"/>
            <a:ext cx="985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Matrix A</a:t>
            </a:r>
            <a:endParaRPr kumimoji="1" lang="zh-TW" altLang="en-US" dirty="0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FF78C232-4A48-EC44-A51D-A8E80562A9BA}"/>
              </a:ext>
            </a:extLst>
          </p:cNvPr>
          <p:cNvSpPr/>
          <p:nvPr/>
        </p:nvSpPr>
        <p:spPr>
          <a:xfrm>
            <a:off x="901380" y="4799291"/>
            <a:ext cx="862307" cy="9011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326AC12F-7B02-694A-B8AB-0E8D9992E8A0}"/>
              </a:ext>
            </a:extLst>
          </p:cNvPr>
          <p:cNvSpPr txBox="1"/>
          <p:nvPr/>
        </p:nvSpPr>
        <p:spPr>
          <a:xfrm>
            <a:off x="1835696" y="5922725"/>
            <a:ext cx="1292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Iteration 6</a:t>
            </a:r>
            <a:endParaRPr kumimoji="1" lang="zh-TW" altLang="en-US" dirty="0"/>
          </a:p>
        </p:txBody>
      </p:sp>
      <p:graphicFrame>
        <p:nvGraphicFramePr>
          <p:cNvPr id="70" name="表格 3">
            <a:extLst>
              <a:ext uri="{FF2B5EF4-FFF2-40B4-BE49-F238E27FC236}">
                <a16:creationId xmlns:a16="http://schemas.microsoft.com/office/drawing/2014/main" id="{616C9D67-ACAF-0E44-B0D6-4B399001E588}"/>
              </a:ext>
            </a:extLst>
          </p:cNvPr>
          <p:cNvGraphicFramePr>
            <a:graphicFrameLocks noGrp="1"/>
          </p:cNvGraphicFramePr>
          <p:nvPr/>
        </p:nvGraphicFramePr>
        <p:xfrm>
          <a:off x="1943298" y="4785388"/>
          <a:ext cx="806025" cy="8915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8675">
                  <a:extLst>
                    <a:ext uri="{9D8B030D-6E8A-4147-A177-3AD203B41FA5}">
                      <a16:colId xmlns:a16="http://schemas.microsoft.com/office/drawing/2014/main" val="3768779981"/>
                    </a:ext>
                  </a:extLst>
                </a:gridCol>
                <a:gridCol w="268675">
                  <a:extLst>
                    <a:ext uri="{9D8B030D-6E8A-4147-A177-3AD203B41FA5}">
                      <a16:colId xmlns:a16="http://schemas.microsoft.com/office/drawing/2014/main" val="1626313198"/>
                    </a:ext>
                  </a:extLst>
                </a:gridCol>
                <a:gridCol w="268675">
                  <a:extLst>
                    <a:ext uri="{9D8B030D-6E8A-4147-A177-3AD203B41FA5}">
                      <a16:colId xmlns:a16="http://schemas.microsoft.com/office/drawing/2014/main" val="4193715377"/>
                    </a:ext>
                  </a:extLst>
                </a:gridCol>
              </a:tblGrid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450425"/>
                  </a:ext>
                </a:extLst>
              </a:tr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31039"/>
                  </a:ext>
                </a:extLst>
              </a:tr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531848"/>
                  </a:ext>
                </a:extLst>
              </a:tr>
            </a:tbl>
          </a:graphicData>
        </a:graphic>
      </p:graphicFrame>
      <p:sp>
        <p:nvSpPr>
          <p:cNvPr id="71" name="文字方塊 70">
            <a:extLst>
              <a:ext uri="{FF2B5EF4-FFF2-40B4-BE49-F238E27FC236}">
                <a16:creationId xmlns:a16="http://schemas.microsoft.com/office/drawing/2014/main" id="{882BA3E6-0015-2742-A47C-94CC0BB82BEC}"/>
              </a:ext>
            </a:extLst>
          </p:cNvPr>
          <p:cNvSpPr txBox="1"/>
          <p:nvPr/>
        </p:nvSpPr>
        <p:spPr>
          <a:xfrm>
            <a:off x="1757989" y="4464743"/>
            <a:ext cx="9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Matrix B</a:t>
            </a:r>
            <a:endParaRPr kumimoji="1" lang="zh-TW" altLang="en-US" dirty="0"/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CCF72D5E-0B8A-F040-90BA-63F233A39034}"/>
              </a:ext>
            </a:extLst>
          </p:cNvPr>
          <p:cNvSpPr/>
          <p:nvPr/>
        </p:nvSpPr>
        <p:spPr>
          <a:xfrm>
            <a:off x="2512798" y="4797152"/>
            <a:ext cx="259002" cy="288034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3" name="向右箭號 72">
            <a:extLst>
              <a:ext uri="{FF2B5EF4-FFF2-40B4-BE49-F238E27FC236}">
                <a16:creationId xmlns:a16="http://schemas.microsoft.com/office/drawing/2014/main" id="{9B357B41-1663-0041-9F20-65C8664CE764}"/>
              </a:ext>
            </a:extLst>
          </p:cNvPr>
          <p:cNvSpPr/>
          <p:nvPr/>
        </p:nvSpPr>
        <p:spPr>
          <a:xfrm>
            <a:off x="1829033" y="4952483"/>
            <a:ext cx="670070" cy="1582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graphicFrame>
        <p:nvGraphicFramePr>
          <p:cNvPr id="74" name="表格 3">
            <a:extLst>
              <a:ext uri="{FF2B5EF4-FFF2-40B4-BE49-F238E27FC236}">
                <a16:creationId xmlns:a16="http://schemas.microsoft.com/office/drawing/2014/main" id="{539F082B-A13D-F741-98FD-1934A652BC87}"/>
              </a:ext>
            </a:extLst>
          </p:cNvPr>
          <p:cNvGraphicFramePr>
            <a:graphicFrameLocks noGrp="1"/>
          </p:cNvGraphicFramePr>
          <p:nvPr/>
        </p:nvGraphicFramePr>
        <p:xfrm>
          <a:off x="3106231" y="4782397"/>
          <a:ext cx="1434870" cy="14859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6974">
                  <a:extLst>
                    <a:ext uri="{9D8B030D-6E8A-4147-A177-3AD203B41FA5}">
                      <a16:colId xmlns:a16="http://schemas.microsoft.com/office/drawing/2014/main" val="3768779981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1626313198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439155643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4077580916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3637269662"/>
                    </a:ext>
                  </a:extLst>
                </a:gridCol>
              </a:tblGrid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450425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31039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531848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8840822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6355077"/>
                  </a:ext>
                </a:extLst>
              </a:tr>
            </a:tbl>
          </a:graphicData>
        </a:graphic>
      </p:graphicFrame>
      <p:sp>
        <p:nvSpPr>
          <p:cNvPr id="75" name="文字方塊 74">
            <a:extLst>
              <a:ext uri="{FF2B5EF4-FFF2-40B4-BE49-F238E27FC236}">
                <a16:creationId xmlns:a16="http://schemas.microsoft.com/office/drawing/2014/main" id="{85BF5A10-64D5-B642-A787-FD3D821106B1}"/>
              </a:ext>
            </a:extLst>
          </p:cNvPr>
          <p:cNvSpPr txBox="1"/>
          <p:nvPr/>
        </p:nvSpPr>
        <p:spPr>
          <a:xfrm>
            <a:off x="2932687" y="4455078"/>
            <a:ext cx="985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Matrix A</a:t>
            </a:r>
            <a:endParaRPr kumimoji="1" lang="zh-TW" altLang="en-US" dirty="0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FB0DDA78-EBA2-714D-B0C6-96BA3D7956D6}"/>
              </a:ext>
            </a:extLst>
          </p:cNvPr>
          <p:cNvSpPr/>
          <p:nvPr/>
        </p:nvSpPr>
        <p:spPr>
          <a:xfrm>
            <a:off x="3635896" y="5087323"/>
            <a:ext cx="862307" cy="9011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7" name="文字方塊 76">
            <a:extLst>
              <a:ext uri="{FF2B5EF4-FFF2-40B4-BE49-F238E27FC236}">
                <a16:creationId xmlns:a16="http://schemas.microsoft.com/office/drawing/2014/main" id="{C403E488-5172-8342-8424-D52BE115A784}"/>
              </a:ext>
            </a:extLst>
          </p:cNvPr>
          <p:cNvSpPr txBox="1"/>
          <p:nvPr/>
        </p:nvSpPr>
        <p:spPr>
          <a:xfrm>
            <a:off x="4632502" y="5917594"/>
            <a:ext cx="1292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Iteration 7</a:t>
            </a:r>
            <a:endParaRPr kumimoji="1" lang="zh-TW" altLang="en-US" dirty="0"/>
          </a:p>
        </p:txBody>
      </p:sp>
      <p:graphicFrame>
        <p:nvGraphicFramePr>
          <p:cNvPr id="78" name="表格 3">
            <a:extLst>
              <a:ext uri="{FF2B5EF4-FFF2-40B4-BE49-F238E27FC236}">
                <a16:creationId xmlns:a16="http://schemas.microsoft.com/office/drawing/2014/main" id="{2539E1CA-C9C3-354F-9E23-67CF2F26D48D}"/>
              </a:ext>
            </a:extLst>
          </p:cNvPr>
          <p:cNvGraphicFramePr>
            <a:graphicFrameLocks noGrp="1"/>
          </p:cNvGraphicFramePr>
          <p:nvPr/>
        </p:nvGraphicFramePr>
        <p:xfrm>
          <a:off x="4740104" y="4780257"/>
          <a:ext cx="806025" cy="8915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8675">
                  <a:extLst>
                    <a:ext uri="{9D8B030D-6E8A-4147-A177-3AD203B41FA5}">
                      <a16:colId xmlns:a16="http://schemas.microsoft.com/office/drawing/2014/main" val="3768779981"/>
                    </a:ext>
                  </a:extLst>
                </a:gridCol>
                <a:gridCol w="268675">
                  <a:extLst>
                    <a:ext uri="{9D8B030D-6E8A-4147-A177-3AD203B41FA5}">
                      <a16:colId xmlns:a16="http://schemas.microsoft.com/office/drawing/2014/main" val="1626313198"/>
                    </a:ext>
                  </a:extLst>
                </a:gridCol>
                <a:gridCol w="268675">
                  <a:extLst>
                    <a:ext uri="{9D8B030D-6E8A-4147-A177-3AD203B41FA5}">
                      <a16:colId xmlns:a16="http://schemas.microsoft.com/office/drawing/2014/main" val="4193715377"/>
                    </a:ext>
                  </a:extLst>
                </a:gridCol>
              </a:tblGrid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450425"/>
                  </a:ext>
                </a:extLst>
              </a:tr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31039"/>
                  </a:ext>
                </a:extLst>
              </a:tr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531848"/>
                  </a:ext>
                </a:extLst>
              </a:tr>
            </a:tbl>
          </a:graphicData>
        </a:graphic>
      </p:graphicFrame>
      <p:sp>
        <p:nvSpPr>
          <p:cNvPr id="79" name="文字方塊 78">
            <a:extLst>
              <a:ext uri="{FF2B5EF4-FFF2-40B4-BE49-F238E27FC236}">
                <a16:creationId xmlns:a16="http://schemas.microsoft.com/office/drawing/2014/main" id="{96C18BFF-12FF-7C47-9504-0208AF9127EB}"/>
              </a:ext>
            </a:extLst>
          </p:cNvPr>
          <p:cNvSpPr txBox="1"/>
          <p:nvPr/>
        </p:nvSpPr>
        <p:spPr>
          <a:xfrm>
            <a:off x="4554795" y="4459612"/>
            <a:ext cx="9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Matrix B</a:t>
            </a:r>
            <a:endParaRPr kumimoji="1" lang="zh-TW" altLang="en-US" dirty="0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27AC5D2E-9C6C-124B-9789-6792AD5C6C4C}"/>
              </a:ext>
            </a:extLst>
          </p:cNvPr>
          <p:cNvSpPr/>
          <p:nvPr/>
        </p:nvSpPr>
        <p:spPr>
          <a:xfrm>
            <a:off x="5247313" y="5085184"/>
            <a:ext cx="259002" cy="288034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1" name="向右箭號 80">
            <a:extLst>
              <a:ext uri="{FF2B5EF4-FFF2-40B4-BE49-F238E27FC236}">
                <a16:creationId xmlns:a16="http://schemas.microsoft.com/office/drawing/2014/main" id="{BC2D1B0E-62AA-3C49-ACA8-32EF20557B1B}"/>
              </a:ext>
            </a:extLst>
          </p:cNvPr>
          <p:cNvSpPr/>
          <p:nvPr/>
        </p:nvSpPr>
        <p:spPr>
          <a:xfrm>
            <a:off x="4538917" y="5241356"/>
            <a:ext cx="670070" cy="1582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graphicFrame>
        <p:nvGraphicFramePr>
          <p:cNvPr id="82" name="表格 3">
            <a:extLst>
              <a:ext uri="{FF2B5EF4-FFF2-40B4-BE49-F238E27FC236}">
                <a16:creationId xmlns:a16="http://schemas.microsoft.com/office/drawing/2014/main" id="{E3D159CF-9A14-F74F-814C-03F6250D3640}"/>
              </a:ext>
            </a:extLst>
          </p:cNvPr>
          <p:cNvGraphicFramePr>
            <a:graphicFrameLocks noGrp="1"/>
          </p:cNvGraphicFramePr>
          <p:nvPr/>
        </p:nvGraphicFramePr>
        <p:xfrm>
          <a:off x="5929519" y="4766206"/>
          <a:ext cx="1434870" cy="14859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6974">
                  <a:extLst>
                    <a:ext uri="{9D8B030D-6E8A-4147-A177-3AD203B41FA5}">
                      <a16:colId xmlns:a16="http://schemas.microsoft.com/office/drawing/2014/main" val="3768779981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1626313198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439155643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4077580916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3637269662"/>
                    </a:ext>
                  </a:extLst>
                </a:gridCol>
              </a:tblGrid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450425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31039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531848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8840822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6355077"/>
                  </a:ext>
                </a:extLst>
              </a:tr>
            </a:tbl>
          </a:graphicData>
        </a:graphic>
      </p:graphicFrame>
      <p:sp>
        <p:nvSpPr>
          <p:cNvPr id="83" name="文字方塊 82">
            <a:extLst>
              <a:ext uri="{FF2B5EF4-FFF2-40B4-BE49-F238E27FC236}">
                <a16:creationId xmlns:a16="http://schemas.microsoft.com/office/drawing/2014/main" id="{B2C0C652-3F31-AA4A-9273-75EFB5AAC22B}"/>
              </a:ext>
            </a:extLst>
          </p:cNvPr>
          <p:cNvSpPr txBox="1"/>
          <p:nvPr/>
        </p:nvSpPr>
        <p:spPr>
          <a:xfrm>
            <a:off x="5870748" y="4438887"/>
            <a:ext cx="985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Matrix A</a:t>
            </a:r>
            <a:endParaRPr kumimoji="1" lang="zh-TW" altLang="en-US" dirty="0"/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223C9B2A-C0F0-8745-B8C4-6259B1C02DBE}"/>
              </a:ext>
            </a:extLst>
          </p:cNvPr>
          <p:cNvSpPr/>
          <p:nvPr/>
        </p:nvSpPr>
        <p:spPr>
          <a:xfrm>
            <a:off x="6488761" y="5375355"/>
            <a:ext cx="862307" cy="9011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5" name="文字方塊 84">
            <a:extLst>
              <a:ext uri="{FF2B5EF4-FFF2-40B4-BE49-F238E27FC236}">
                <a16:creationId xmlns:a16="http://schemas.microsoft.com/office/drawing/2014/main" id="{37F8124C-FA44-5E45-AF14-AAC85C47C00A}"/>
              </a:ext>
            </a:extLst>
          </p:cNvPr>
          <p:cNvSpPr txBox="1"/>
          <p:nvPr/>
        </p:nvSpPr>
        <p:spPr>
          <a:xfrm>
            <a:off x="7455790" y="5901403"/>
            <a:ext cx="1292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Iteration 8</a:t>
            </a:r>
            <a:endParaRPr kumimoji="1" lang="zh-TW" altLang="en-US" dirty="0"/>
          </a:p>
        </p:txBody>
      </p:sp>
      <p:graphicFrame>
        <p:nvGraphicFramePr>
          <p:cNvPr id="86" name="表格 3">
            <a:extLst>
              <a:ext uri="{FF2B5EF4-FFF2-40B4-BE49-F238E27FC236}">
                <a16:creationId xmlns:a16="http://schemas.microsoft.com/office/drawing/2014/main" id="{8695D85A-B509-E040-86BE-E8D7689CD7FD}"/>
              </a:ext>
            </a:extLst>
          </p:cNvPr>
          <p:cNvGraphicFramePr>
            <a:graphicFrameLocks noGrp="1"/>
          </p:cNvGraphicFramePr>
          <p:nvPr/>
        </p:nvGraphicFramePr>
        <p:xfrm>
          <a:off x="7563392" y="4764066"/>
          <a:ext cx="806025" cy="8915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8675">
                  <a:extLst>
                    <a:ext uri="{9D8B030D-6E8A-4147-A177-3AD203B41FA5}">
                      <a16:colId xmlns:a16="http://schemas.microsoft.com/office/drawing/2014/main" val="3768779981"/>
                    </a:ext>
                  </a:extLst>
                </a:gridCol>
                <a:gridCol w="268675">
                  <a:extLst>
                    <a:ext uri="{9D8B030D-6E8A-4147-A177-3AD203B41FA5}">
                      <a16:colId xmlns:a16="http://schemas.microsoft.com/office/drawing/2014/main" val="1626313198"/>
                    </a:ext>
                  </a:extLst>
                </a:gridCol>
                <a:gridCol w="268675">
                  <a:extLst>
                    <a:ext uri="{9D8B030D-6E8A-4147-A177-3AD203B41FA5}">
                      <a16:colId xmlns:a16="http://schemas.microsoft.com/office/drawing/2014/main" val="4193715377"/>
                    </a:ext>
                  </a:extLst>
                </a:gridCol>
              </a:tblGrid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450425"/>
                  </a:ext>
                </a:extLst>
              </a:tr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31039"/>
                  </a:ext>
                </a:extLst>
              </a:tr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531848"/>
                  </a:ext>
                </a:extLst>
              </a:tr>
            </a:tbl>
          </a:graphicData>
        </a:graphic>
      </p:graphicFrame>
      <p:sp>
        <p:nvSpPr>
          <p:cNvPr id="87" name="文字方塊 86">
            <a:extLst>
              <a:ext uri="{FF2B5EF4-FFF2-40B4-BE49-F238E27FC236}">
                <a16:creationId xmlns:a16="http://schemas.microsoft.com/office/drawing/2014/main" id="{E0C0D5E8-CFF0-644D-8A2B-C1C26AFA1260}"/>
              </a:ext>
            </a:extLst>
          </p:cNvPr>
          <p:cNvSpPr txBox="1"/>
          <p:nvPr/>
        </p:nvSpPr>
        <p:spPr>
          <a:xfrm>
            <a:off x="7378083" y="4443421"/>
            <a:ext cx="9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Matrix B</a:t>
            </a:r>
            <a:endParaRPr kumimoji="1" lang="zh-TW" altLang="en-US" dirty="0"/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5A3E9E0E-5F85-A04E-859F-A7E6829CB48B}"/>
              </a:ext>
            </a:extLst>
          </p:cNvPr>
          <p:cNvSpPr/>
          <p:nvPr/>
        </p:nvSpPr>
        <p:spPr>
          <a:xfrm>
            <a:off x="8100179" y="5373216"/>
            <a:ext cx="259002" cy="288034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9" name="向右箭號 88">
            <a:extLst>
              <a:ext uri="{FF2B5EF4-FFF2-40B4-BE49-F238E27FC236}">
                <a16:creationId xmlns:a16="http://schemas.microsoft.com/office/drawing/2014/main" id="{4454D605-62AF-7C49-B418-CBD038585540}"/>
              </a:ext>
            </a:extLst>
          </p:cNvPr>
          <p:cNvSpPr/>
          <p:nvPr/>
        </p:nvSpPr>
        <p:spPr>
          <a:xfrm>
            <a:off x="7416414" y="5528547"/>
            <a:ext cx="670070" cy="1582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23037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807705-E254-5B44-BC61-380D5707B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Kernel Computation Scan Pattern C (Block-based)</a:t>
            </a:r>
            <a:br>
              <a:rPr lang="en-US" altLang="zh-TW" dirty="0"/>
            </a:br>
            <a:br>
              <a:rPr lang="en-US" altLang="zh-TW" dirty="0"/>
            </a:br>
            <a:endParaRPr lang="zh-TW" altLang="en-US" dirty="0"/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B9666B66-1D58-4644-9B03-A2011225A82A}"/>
              </a:ext>
            </a:extLst>
          </p:cNvPr>
          <p:cNvGraphicFramePr>
            <a:graphicFrameLocks noGrp="1"/>
          </p:cNvGraphicFramePr>
          <p:nvPr/>
        </p:nvGraphicFramePr>
        <p:xfrm>
          <a:off x="309425" y="1185353"/>
          <a:ext cx="1434870" cy="14859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6974">
                  <a:extLst>
                    <a:ext uri="{9D8B030D-6E8A-4147-A177-3AD203B41FA5}">
                      <a16:colId xmlns:a16="http://schemas.microsoft.com/office/drawing/2014/main" val="3768779981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1626313198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439155643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4077580916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3637269662"/>
                    </a:ext>
                  </a:extLst>
                </a:gridCol>
              </a:tblGrid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450425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31039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531848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8840822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6355077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5F022B12-5120-D44B-9626-192FE3C1B8F7}"/>
              </a:ext>
            </a:extLst>
          </p:cNvPr>
          <p:cNvSpPr txBox="1"/>
          <p:nvPr/>
        </p:nvSpPr>
        <p:spPr>
          <a:xfrm>
            <a:off x="250654" y="858034"/>
            <a:ext cx="985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Matrix A</a:t>
            </a:r>
            <a:endParaRPr kumimoji="1" lang="zh-TW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103E403-3DD0-6D45-9754-F7C6F9455F71}"/>
              </a:ext>
            </a:extLst>
          </p:cNvPr>
          <p:cNvSpPr/>
          <p:nvPr/>
        </p:nvSpPr>
        <p:spPr>
          <a:xfrm>
            <a:off x="325317" y="1185352"/>
            <a:ext cx="862307" cy="9011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CA353A2-0F7D-7243-9AD8-0AD52C5A3A51}"/>
              </a:ext>
            </a:extLst>
          </p:cNvPr>
          <p:cNvSpPr txBox="1"/>
          <p:nvPr/>
        </p:nvSpPr>
        <p:spPr>
          <a:xfrm>
            <a:off x="1835696" y="2320550"/>
            <a:ext cx="1292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Iteration 0</a:t>
            </a:r>
            <a:endParaRPr kumimoji="1" lang="zh-TW" altLang="en-US" dirty="0"/>
          </a:p>
        </p:txBody>
      </p:sp>
      <p:graphicFrame>
        <p:nvGraphicFramePr>
          <p:cNvPr id="13" name="表格 3">
            <a:extLst>
              <a:ext uri="{FF2B5EF4-FFF2-40B4-BE49-F238E27FC236}">
                <a16:creationId xmlns:a16="http://schemas.microsoft.com/office/drawing/2014/main" id="{33784B72-E0B6-3246-96FD-190C5788D214}"/>
              </a:ext>
            </a:extLst>
          </p:cNvPr>
          <p:cNvGraphicFramePr>
            <a:graphicFrameLocks noGrp="1"/>
          </p:cNvGraphicFramePr>
          <p:nvPr/>
        </p:nvGraphicFramePr>
        <p:xfrm>
          <a:off x="1943298" y="1183213"/>
          <a:ext cx="806025" cy="8915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8675">
                  <a:extLst>
                    <a:ext uri="{9D8B030D-6E8A-4147-A177-3AD203B41FA5}">
                      <a16:colId xmlns:a16="http://schemas.microsoft.com/office/drawing/2014/main" val="3768779981"/>
                    </a:ext>
                  </a:extLst>
                </a:gridCol>
                <a:gridCol w="268675">
                  <a:extLst>
                    <a:ext uri="{9D8B030D-6E8A-4147-A177-3AD203B41FA5}">
                      <a16:colId xmlns:a16="http://schemas.microsoft.com/office/drawing/2014/main" val="1626313198"/>
                    </a:ext>
                  </a:extLst>
                </a:gridCol>
                <a:gridCol w="268675">
                  <a:extLst>
                    <a:ext uri="{9D8B030D-6E8A-4147-A177-3AD203B41FA5}">
                      <a16:colId xmlns:a16="http://schemas.microsoft.com/office/drawing/2014/main" val="4193715377"/>
                    </a:ext>
                  </a:extLst>
                </a:gridCol>
              </a:tblGrid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450425"/>
                  </a:ext>
                </a:extLst>
              </a:tr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31039"/>
                  </a:ext>
                </a:extLst>
              </a:tr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531848"/>
                  </a:ext>
                </a:extLst>
              </a:tr>
            </a:tbl>
          </a:graphicData>
        </a:graphic>
      </p:graphicFrame>
      <p:sp>
        <p:nvSpPr>
          <p:cNvPr id="14" name="文字方塊 13">
            <a:extLst>
              <a:ext uri="{FF2B5EF4-FFF2-40B4-BE49-F238E27FC236}">
                <a16:creationId xmlns:a16="http://schemas.microsoft.com/office/drawing/2014/main" id="{1F33113B-CA3C-2C43-B192-2B9F367885B2}"/>
              </a:ext>
            </a:extLst>
          </p:cNvPr>
          <p:cNvSpPr txBox="1"/>
          <p:nvPr/>
        </p:nvSpPr>
        <p:spPr>
          <a:xfrm>
            <a:off x="1757989" y="862568"/>
            <a:ext cx="9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Matrix B</a:t>
            </a:r>
            <a:endParaRPr kumimoji="1" lang="zh-TW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77835C2-34A6-3C4A-99C8-4D5ED1F43329}"/>
              </a:ext>
            </a:extLst>
          </p:cNvPr>
          <p:cNvSpPr/>
          <p:nvPr/>
        </p:nvSpPr>
        <p:spPr>
          <a:xfrm>
            <a:off x="1936735" y="1183213"/>
            <a:ext cx="259002" cy="288034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" name="向右箭號 6">
            <a:extLst>
              <a:ext uri="{FF2B5EF4-FFF2-40B4-BE49-F238E27FC236}">
                <a16:creationId xmlns:a16="http://schemas.microsoft.com/office/drawing/2014/main" id="{55DB6912-2920-EF4D-919B-8B74CAE52FEE}"/>
              </a:ext>
            </a:extLst>
          </p:cNvPr>
          <p:cNvSpPr/>
          <p:nvPr/>
        </p:nvSpPr>
        <p:spPr>
          <a:xfrm>
            <a:off x="1252970" y="1338544"/>
            <a:ext cx="670070" cy="1582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graphicFrame>
        <p:nvGraphicFramePr>
          <p:cNvPr id="25" name="表格 3">
            <a:extLst>
              <a:ext uri="{FF2B5EF4-FFF2-40B4-BE49-F238E27FC236}">
                <a16:creationId xmlns:a16="http://schemas.microsoft.com/office/drawing/2014/main" id="{485915F3-10D3-7646-A762-9C99E0B3B1AC}"/>
              </a:ext>
            </a:extLst>
          </p:cNvPr>
          <p:cNvGraphicFramePr>
            <a:graphicFrameLocks noGrp="1"/>
          </p:cNvGraphicFramePr>
          <p:nvPr/>
        </p:nvGraphicFramePr>
        <p:xfrm>
          <a:off x="3106231" y="1180222"/>
          <a:ext cx="1434870" cy="14859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6974">
                  <a:extLst>
                    <a:ext uri="{9D8B030D-6E8A-4147-A177-3AD203B41FA5}">
                      <a16:colId xmlns:a16="http://schemas.microsoft.com/office/drawing/2014/main" val="3768779981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1626313198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439155643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4077580916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3637269662"/>
                    </a:ext>
                  </a:extLst>
                </a:gridCol>
              </a:tblGrid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450425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31039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531848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8840822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6355077"/>
                  </a:ext>
                </a:extLst>
              </a:tr>
            </a:tbl>
          </a:graphicData>
        </a:graphic>
      </p:graphicFrame>
      <p:sp>
        <p:nvSpPr>
          <p:cNvPr id="26" name="文字方塊 25">
            <a:extLst>
              <a:ext uri="{FF2B5EF4-FFF2-40B4-BE49-F238E27FC236}">
                <a16:creationId xmlns:a16="http://schemas.microsoft.com/office/drawing/2014/main" id="{D2A1CC64-8C42-6047-AD7F-64FBCF0AF796}"/>
              </a:ext>
            </a:extLst>
          </p:cNvPr>
          <p:cNvSpPr txBox="1"/>
          <p:nvPr/>
        </p:nvSpPr>
        <p:spPr>
          <a:xfrm>
            <a:off x="2932687" y="852903"/>
            <a:ext cx="985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Matrix A</a:t>
            </a:r>
            <a:endParaRPr kumimoji="1" lang="zh-TW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B9DDF71-4155-4D43-BEF9-63FBAFFFB352}"/>
              </a:ext>
            </a:extLst>
          </p:cNvPr>
          <p:cNvSpPr/>
          <p:nvPr/>
        </p:nvSpPr>
        <p:spPr>
          <a:xfrm>
            <a:off x="3392418" y="1180221"/>
            <a:ext cx="862307" cy="9011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B9D0BA70-9718-A148-8CC6-8324615309B0}"/>
              </a:ext>
            </a:extLst>
          </p:cNvPr>
          <p:cNvSpPr txBox="1"/>
          <p:nvPr/>
        </p:nvSpPr>
        <p:spPr>
          <a:xfrm>
            <a:off x="4632502" y="2315419"/>
            <a:ext cx="1292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Iteration 1</a:t>
            </a:r>
            <a:endParaRPr kumimoji="1" lang="zh-TW" altLang="en-US" dirty="0"/>
          </a:p>
        </p:txBody>
      </p:sp>
      <p:graphicFrame>
        <p:nvGraphicFramePr>
          <p:cNvPr id="30" name="表格 3">
            <a:extLst>
              <a:ext uri="{FF2B5EF4-FFF2-40B4-BE49-F238E27FC236}">
                <a16:creationId xmlns:a16="http://schemas.microsoft.com/office/drawing/2014/main" id="{33FC97E5-055F-CB49-931B-63488F835947}"/>
              </a:ext>
            </a:extLst>
          </p:cNvPr>
          <p:cNvGraphicFramePr>
            <a:graphicFrameLocks noGrp="1"/>
          </p:cNvGraphicFramePr>
          <p:nvPr/>
        </p:nvGraphicFramePr>
        <p:xfrm>
          <a:off x="4740104" y="1178082"/>
          <a:ext cx="806025" cy="8915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8675">
                  <a:extLst>
                    <a:ext uri="{9D8B030D-6E8A-4147-A177-3AD203B41FA5}">
                      <a16:colId xmlns:a16="http://schemas.microsoft.com/office/drawing/2014/main" val="3768779981"/>
                    </a:ext>
                  </a:extLst>
                </a:gridCol>
                <a:gridCol w="268675">
                  <a:extLst>
                    <a:ext uri="{9D8B030D-6E8A-4147-A177-3AD203B41FA5}">
                      <a16:colId xmlns:a16="http://schemas.microsoft.com/office/drawing/2014/main" val="1626313198"/>
                    </a:ext>
                  </a:extLst>
                </a:gridCol>
                <a:gridCol w="268675">
                  <a:extLst>
                    <a:ext uri="{9D8B030D-6E8A-4147-A177-3AD203B41FA5}">
                      <a16:colId xmlns:a16="http://schemas.microsoft.com/office/drawing/2014/main" val="4193715377"/>
                    </a:ext>
                  </a:extLst>
                </a:gridCol>
              </a:tblGrid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450425"/>
                  </a:ext>
                </a:extLst>
              </a:tr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31039"/>
                  </a:ext>
                </a:extLst>
              </a:tr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531848"/>
                  </a:ext>
                </a:extLst>
              </a:tr>
            </a:tbl>
          </a:graphicData>
        </a:graphic>
      </p:graphicFrame>
      <p:sp>
        <p:nvSpPr>
          <p:cNvPr id="31" name="文字方塊 30">
            <a:extLst>
              <a:ext uri="{FF2B5EF4-FFF2-40B4-BE49-F238E27FC236}">
                <a16:creationId xmlns:a16="http://schemas.microsoft.com/office/drawing/2014/main" id="{7501D005-8941-2E41-A029-44AF25A79E87}"/>
              </a:ext>
            </a:extLst>
          </p:cNvPr>
          <p:cNvSpPr txBox="1"/>
          <p:nvPr/>
        </p:nvSpPr>
        <p:spPr>
          <a:xfrm>
            <a:off x="4554795" y="857437"/>
            <a:ext cx="9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Matrix B</a:t>
            </a:r>
            <a:endParaRPr kumimoji="1" lang="zh-TW" altLang="en-US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0F26203-9DBA-7046-8370-BC3D7E9D363E}"/>
              </a:ext>
            </a:extLst>
          </p:cNvPr>
          <p:cNvSpPr/>
          <p:nvPr/>
        </p:nvSpPr>
        <p:spPr>
          <a:xfrm>
            <a:off x="5003835" y="1178082"/>
            <a:ext cx="259002" cy="288034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3" name="向右箭號 32">
            <a:extLst>
              <a:ext uri="{FF2B5EF4-FFF2-40B4-BE49-F238E27FC236}">
                <a16:creationId xmlns:a16="http://schemas.microsoft.com/office/drawing/2014/main" id="{75F74AFA-183F-374E-8AA0-E3D2A3BAB802}"/>
              </a:ext>
            </a:extLst>
          </p:cNvPr>
          <p:cNvSpPr/>
          <p:nvPr/>
        </p:nvSpPr>
        <p:spPr>
          <a:xfrm>
            <a:off x="4295439" y="1334254"/>
            <a:ext cx="670070" cy="1582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graphicFrame>
        <p:nvGraphicFramePr>
          <p:cNvPr id="34" name="表格 3">
            <a:extLst>
              <a:ext uri="{FF2B5EF4-FFF2-40B4-BE49-F238E27FC236}">
                <a16:creationId xmlns:a16="http://schemas.microsoft.com/office/drawing/2014/main" id="{E8C01339-9420-D74A-B587-5F6BE948B9D9}"/>
              </a:ext>
            </a:extLst>
          </p:cNvPr>
          <p:cNvGraphicFramePr>
            <a:graphicFrameLocks noGrp="1"/>
          </p:cNvGraphicFramePr>
          <p:nvPr/>
        </p:nvGraphicFramePr>
        <p:xfrm>
          <a:off x="5929519" y="1164031"/>
          <a:ext cx="1434870" cy="14859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6974">
                  <a:extLst>
                    <a:ext uri="{9D8B030D-6E8A-4147-A177-3AD203B41FA5}">
                      <a16:colId xmlns:a16="http://schemas.microsoft.com/office/drawing/2014/main" val="3768779981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1626313198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439155643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4077580916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3637269662"/>
                    </a:ext>
                  </a:extLst>
                </a:gridCol>
              </a:tblGrid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450425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31039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531848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8840822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6355077"/>
                  </a:ext>
                </a:extLst>
              </a:tr>
            </a:tbl>
          </a:graphicData>
        </a:graphic>
      </p:graphicFrame>
      <p:sp>
        <p:nvSpPr>
          <p:cNvPr id="35" name="文字方塊 34">
            <a:extLst>
              <a:ext uri="{FF2B5EF4-FFF2-40B4-BE49-F238E27FC236}">
                <a16:creationId xmlns:a16="http://schemas.microsoft.com/office/drawing/2014/main" id="{E64FDD2B-6033-634F-BD85-E140357092EB}"/>
              </a:ext>
            </a:extLst>
          </p:cNvPr>
          <p:cNvSpPr txBox="1"/>
          <p:nvPr/>
        </p:nvSpPr>
        <p:spPr>
          <a:xfrm>
            <a:off x="5870748" y="836712"/>
            <a:ext cx="985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Matrix A</a:t>
            </a:r>
            <a:endParaRPr kumimoji="1" lang="zh-TW" altLang="en-US" dirty="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04E2FF7-BD37-AF4C-9A1A-391C71701F3D}"/>
              </a:ext>
            </a:extLst>
          </p:cNvPr>
          <p:cNvSpPr/>
          <p:nvPr/>
        </p:nvSpPr>
        <p:spPr>
          <a:xfrm>
            <a:off x="5940152" y="1447694"/>
            <a:ext cx="862307" cy="9011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7D613286-8870-CA40-B40F-158EF656BF21}"/>
              </a:ext>
            </a:extLst>
          </p:cNvPr>
          <p:cNvSpPr txBox="1"/>
          <p:nvPr/>
        </p:nvSpPr>
        <p:spPr>
          <a:xfrm>
            <a:off x="7455790" y="2299228"/>
            <a:ext cx="1292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Iteration 2</a:t>
            </a:r>
            <a:endParaRPr kumimoji="1" lang="zh-TW" altLang="en-US" dirty="0"/>
          </a:p>
        </p:txBody>
      </p:sp>
      <p:graphicFrame>
        <p:nvGraphicFramePr>
          <p:cNvPr id="38" name="表格 3">
            <a:extLst>
              <a:ext uri="{FF2B5EF4-FFF2-40B4-BE49-F238E27FC236}">
                <a16:creationId xmlns:a16="http://schemas.microsoft.com/office/drawing/2014/main" id="{5FC65C5E-B29C-3E4E-9194-AC49841255B2}"/>
              </a:ext>
            </a:extLst>
          </p:cNvPr>
          <p:cNvGraphicFramePr>
            <a:graphicFrameLocks noGrp="1"/>
          </p:cNvGraphicFramePr>
          <p:nvPr/>
        </p:nvGraphicFramePr>
        <p:xfrm>
          <a:off x="7563392" y="1161891"/>
          <a:ext cx="806025" cy="8915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8675">
                  <a:extLst>
                    <a:ext uri="{9D8B030D-6E8A-4147-A177-3AD203B41FA5}">
                      <a16:colId xmlns:a16="http://schemas.microsoft.com/office/drawing/2014/main" val="3768779981"/>
                    </a:ext>
                  </a:extLst>
                </a:gridCol>
                <a:gridCol w="268675">
                  <a:extLst>
                    <a:ext uri="{9D8B030D-6E8A-4147-A177-3AD203B41FA5}">
                      <a16:colId xmlns:a16="http://schemas.microsoft.com/office/drawing/2014/main" val="1626313198"/>
                    </a:ext>
                  </a:extLst>
                </a:gridCol>
                <a:gridCol w="268675">
                  <a:extLst>
                    <a:ext uri="{9D8B030D-6E8A-4147-A177-3AD203B41FA5}">
                      <a16:colId xmlns:a16="http://schemas.microsoft.com/office/drawing/2014/main" val="4193715377"/>
                    </a:ext>
                  </a:extLst>
                </a:gridCol>
              </a:tblGrid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450425"/>
                  </a:ext>
                </a:extLst>
              </a:tr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31039"/>
                  </a:ext>
                </a:extLst>
              </a:tr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531848"/>
                  </a:ext>
                </a:extLst>
              </a:tr>
            </a:tbl>
          </a:graphicData>
        </a:graphic>
      </p:graphicFrame>
      <p:sp>
        <p:nvSpPr>
          <p:cNvPr id="39" name="文字方塊 38">
            <a:extLst>
              <a:ext uri="{FF2B5EF4-FFF2-40B4-BE49-F238E27FC236}">
                <a16:creationId xmlns:a16="http://schemas.microsoft.com/office/drawing/2014/main" id="{FC9C4475-838D-5E44-BC9B-EF4F18C5E922}"/>
              </a:ext>
            </a:extLst>
          </p:cNvPr>
          <p:cNvSpPr txBox="1"/>
          <p:nvPr/>
        </p:nvSpPr>
        <p:spPr>
          <a:xfrm>
            <a:off x="7378083" y="841246"/>
            <a:ext cx="9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Matrix B</a:t>
            </a:r>
            <a:endParaRPr kumimoji="1" lang="zh-TW" altLang="en-US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C45B9BA-29A1-3F45-BC9B-CE949527FD68}"/>
              </a:ext>
            </a:extLst>
          </p:cNvPr>
          <p:cNvSpPr/>
          <p:nvPr/>
        </p:nvSpPr>
        <p:spPr>
          <a:xfrm>
            <a:off x="7551570" y="1445555"/>
            <a:ext cx="259002" cy="288034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1" name="向右箭號 40">
            <a:extLst>
              <a:ext uri="{FF2B5EF4-FFF2-40B4-BE49-F238E27FC236}">
                <a16:creationId xmlns:a16="http://schemas.microsoft.com/office/drawing/2014/main" id="{BE5B99D8-C165-B04E-83A2-7CD86E1EE2DE}"/>
              </a:ext>
            </a:extLst>
          </p:cNvPr>
          <p:cNvSpPr/>
          <p:nvPr/>
        </p:nvSpPr>
        <p:spPr>
          <a:xfrm>
            <a:off x="6867805" y="1600886"/>
            <a:ext cx="670070" cy="1582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graphicFrame>
        <p:nvGraphicFramePr>
          <p:cNvPr id="42" name="表格 3">
            <a:extLst>
              <a:ext uri="{FF2B5EF4-FFF2-40B4-BE49-F238E27FC236}">
                <a16:creationId xmlns:a16="http://schemas.microsoft.com/office/drawing/2014/main" id="{2C8859E2-092E-354D-87AF-BACE2DFFA445}"/>
              </a:ext>
            </a:extLst>
          </p:cNvPr>
          <p:cNvGraphicFramePr>
            <a:graphicFrameLocks noGrp="1"/>
          </p:cNvGraphicFramePr>
          <p:nvPr/>
        </p:nvGraphicFramePr>
        <p:xfrm>
          <a:off x="309425" y="2977250"/>
          <a:ext cx="1434870" cy="14859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6974">
                  <a:extLst>
                    <a:ext uri="{9D8B030D-6E8A-4147-A177-3AD203B41FA5}">
                      <a16:colId xmlns:a16="http://schemas.microsoft.com/office/drawing/2014/main" val="3768779981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1626313198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439155643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4077580916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3637269662"/>
                    </a:ext>
                  </a:extLst>
                </a:gridCol>
              </a:tblGrid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450425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31039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531848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8840822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6355077"/>
                  </a:ext>
                </a:extLst>
              </a:tr>
            </a:tbl>
          </a:graphicData>
        </a:graphic>
      </p:graphicFrame>
      <p:sp>
        <p:nvSpPr>
          <p:cNvPr id="43" name="文字方塊 42">
            <a:extLst>
              <a:ext uri="{FF2B5EF4-FFF2-40B4-BE49-F238E27FC236}">
                <a16:creationId xmlns:a16="http://schemas.microsoft.com/office/drawing/2014/main" id="{02A20902-EABF-534A-877E-A43A1414C1D4}"/>
              </a:ext>
            </a:extLst>
          </p:cNvPr>
          <p:cNvSpPr txBox="1"/>
          <p:nvPr/>
        </p:nvSpPr>
        <p:spPr>
          <a:xfrm>
            <a:off x="250654" y="2649931"/>
            <a:ext cx="985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Matrix A</a:t>
            </a:r>
            <a:endParaRPr kumimoji="1" lang="zh-TW" altLang="en-US" dirty="0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BC39A276-0154-2E48-8544-FCB62E3102FB}"/>
              </a:ext>
            </a:extLst>
          </p:cNvPr>
          <p:cNvSpPr/>
          <p:nvPr/>
        </p:nvSpPr>
        <p:spPr>
          <a:xfrm>
            <a:off x="613348" y="3247894"/>
            <a:ext cx="862307" cy="9011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AD197264-4550-9D43-AAD9-2B471FC2AC3F}"/>
              </a:ext>
            </a:extLst>
          </p:cNvPr>
          <p:cNvSpPr txBox="1"/>
          <p:nvPr/>
        </p:nvSpPr>
        <p:spPr>
          <a:xfrm>
            <a:off x="1835696" y="4112447"/>
            <a:ext cx="1292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Iteration 3</a:t>
            </a:r>
            <a:endParaRPr kumimoji="1" lang="zh-TW" altLang="en-US" dirty="0"/>
          </a:p>
        </p:txBody>
      </p:sp>
      <p:graphicFrame>
        <p:nvGraphicFramePr>
          <p:cNvPr id="46" name="表格 3">
            <a:extLst>
              <a:ext uri="{FF2B5EF4-FFF2-40B4-BE49-F238E27FC236}">
                <a16:creationId xmlns:a16="http://schemas.microsoft.com/office/drawing/2014/main" id="{DEB8C749-7514-A446-BCC0-8CFB064B7E43}"/>
              </a:ext>
            </a:extLst>
          </p:cNvPr>
          <p:cNvGraphicFramePr>
            <a:graphicFrameLocks noGrp="1"/>
          </p:cNvGraphicFramePr>
          <p:nvPr/>
        </p:nvGraphicFramePr>
        <p:xfrm>
          <a:off x="1943298" y="2975110"/>
          <a:ext cx="806025" cy="8915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8675">
                  <a:extLst>
                    <a:ext uri="{9D8B030D-6E8A-4147-A177-3AD203B41FA5}">
                      <a16:colId xmlns:a16="http://schemas.microsoft.com/office/drawing/2014/main" val="3768779981"/>
                    </a:ext>
                  </a:extLst>
                </a:gridCol>
                <a:gridCol w="268675">
                  <a:extLst>
                    <a:ext uri="{9D8B030D-6E8A-4147-A177-3AD203B41FA5}">
                      <a16:colId xmlns:a16="http://schemas.microsoft.com/office/drawing/2014/main" val="1626313198"/>
                    </a:ext>
                  </a:extLst>
                </a:gridCol>
                <a:gridCol w="268675">
                  <a:extLst>
                    <a:ext uri="{9D8B030D-6E8A-4147-A177-3AD203B41FA5}">
                      <a16:colId xmlns:a16="http://schemas.microsoft.com/office/drawing/2014/main" val="4193715377"/>
                    </a:ext>
                  </a:extLst>
                </a:gridCol>
              </a:tblGrid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450425"/>
                  </a:ext>
                </a:extLst>
              </a:tr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31039"/>
                  </a:ext>
                </a:extLst>
              </a:tr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531848"/>
                  </a:ext>
                </a:extLst>
              </a:tr>
            </a:tbl>
          </a:graphicData>
        </a:graphic>
      </p:graphicFrame>
      <p:sp>
        <p:nvSpPr>
          <p:cNvPr id="47" name="文字方塊 46">
            <a:extLst>
              <a:ext uri="{FF2B5EF4-FFF2-40B4-BE49-F238E27FC236}">
                <a16:creationId xmlns:a16="http://schemas.microsoft.com/office/drawing/2014/main" id="{C9CA6465-4319-2949-B743-90E219855468}"/>
              </a:ext>
            </a:extLst>
          </p:cNvPr>
          <p:cNvSpPr txBox="1"/>
          <p:nvPr/>
        </p:nvSpPr>
        <p:spPr>
          <a:xfrm>
            <a:off x="1757989" y="2654465"/>
            <a:ext cx="9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Matrix B</a:t>
            </a:r>
            <a:endParaRPr kumimoji="1" lang="zh-TW" altLang="en-US" dirty="0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E1F4C6F5-8C37-8943-8148-45C8BB5EC611}"/>
              </a:ext>
            </a:extLst>
          </p:cNvPr>
          <p:cNvSpPr/>
          <p:nvPr/>
        </p:nvSpPr>
        <p:spPr>
          <a:xfrm>
            <a:off x="2224766" y="3245755"/>
            <a:ext cx="259002" cy="288034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9" name="向右箭號 48">
            <a:extLst>
              <a:ext uri="{FF2B5EF4-FFF2-40B4-BE49-F238E27FC236}">
                <a16:creationId xmlns:a16="http://schemas.microsoft.com/office/drawing/2014/main" id="{2EA64478-3139-E446-8D34-3280E371B85F}"/>
              </a:ext>
            </a:extLst>
          </p:cNvPr>
          <p:cNvSpPr/>
          <p:nvPr/>
        </p:nvSpPr>
        <p:spPr>
          <a:xfrm>
            <a:off x="1541001" y="3401086"/>
            <a:ext cx="670070" cy="1582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graphicFrame>
        <p:nvGraphicFramePr>
          <p:cNvPr id="50" name="表格 3">
            <a:extLst>
              <a:ext uri="{FF2B5EF4-FFF2-40B4-BE49-F238E27FC236}">
                <a16:creationId xmlns:a16="http://schemas.microsoft.com/office/drawing/2014/main" id="{CBDCE41E-AC6F-AD46-8E67-57099341F57B}"/>
              </a:ext>
            </a:extLst>
          </p:cNvPr>
          <p:cNvGraphicFramePr>
            <a:graphicFrameLocks noGrp="1"/>
          </p:cNvGraphicFramePr>
          <p:nvPr/>
        </p:nvGraphicFramePr>
        <p:xfrm>
          <a:off x="3106231" y="2972119"/>
          <a:ext cx="1434870" cy="14859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6974">
                  <a:extLst>
                    <a:ext uri="{9D8B030D-6E8A-4147-A177-3AD203B41FA5}">
                      <a16:colId xmlns:a16="http://schemas.microsoft.com/office/drawing/2014/main" val="3768779981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1626313198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439155643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4077580916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3637269662"/>
                    </a:ext>
                  </a:extLst>
                </a:gridCol>
              </a:tblGrid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450425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31039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531848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8840822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6355077"/>
                  </a:ext>
                </a:extLst>
              </a:tr>
            </a:tbl>
          </a:graphicData>
        </a:graphic>
      </p:graphicFrame>
      <p:sp>
        <p:nvSpPr>
          <p:cNvPr id="51" name="文字方塊 50">
            <a:extLst>
              <a:ext uri="{FF2B5EF4-FFF2-40B4-BE49-F238E27FC236}">
                <a16:creationId xmlns:a16="http://schemas.microsoft.com/office/drawing/2014/main" id="{B1407295-B207-D343-BB3B-CF463BEB9EB6}"/>
              </a:ext>
            </a:extLst>
          </p:cNvPr>
          <p:cNvSpPr txBox="1"/>
          <p:nvPr/>
        </p:nvSpPr>
        <p:spPr>
          <a:xfrm>
            <a:off x="2932687" y="2644800"/>
            <a:ext cx="985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Matrix A</a:t>
            </a:r>
            <a:endParaRPr kumimoji="1" lang="zh-TW" altLang="en-US" dirty="0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C7867243-554A-1F48-9D48-DC4EA830EEA3}"/>
              </a:ext>
            </a:extLst>
          </p:cNvPr>
          <p:cNvSpPr/>
          <p:nvPr/>
        </p:nvSpPr>
        <p:spPr>
          <a:xfrm>
            <a:off x="3709693" y="2959862"/>
            <a:ext cx="862307" cy="9011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5ACE009A-2CC5-6F41-8436-B8BB56816E93}"/>
              </a:ext>
            </a:extLst>
          </p:cNvPr>
          <p:cNvSpPr txBox="1"/>
          <p:nvPr/>
        </p:nvSpPr>
        <p:spPr>
          <a:xfrm>
            <a:off x="4632502" y="4107316"/>
            <a:ext cx="1292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Iteration 4</a:t>
            </a:r>
            <a:endParaRPr kumimoji="1" lang="zh-TW" altLang="en-US" dirty="0"/>
          </a:p>
        </p:txBody>
      </p:sp>
      <p:graphicFrame>
        <p:nvGraphicFramePr>
          <p:cNvPr id="54" name="表格 3">
            <a:extLst>
              <a:ext uri="{FF2B5EF4-FFF2-40B4-BE49-F238E27FC236}">
                <a16:creationId xmlns:a16="http://schemas.microsoft.com/office/drawing/2014/main" id="{4A88997C-8CE8-1648-8EF9-CB88B6A3A095}"/>
              </a:ext>
            </a:extLst>
          </p:cNvPr>
          <p:cNvGraphicFramePr>
            <a:graphicFrameLocks noGrp="1"/>
          </p:cNvGraphicFramePr>
          <p:nvPr/>
        </p:nvGraphicFramePr>
        <p:xfrm>
          <a:off x="4740104" y="2969979"/>
          <a:ext cx="806025" cy="8915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8675">
                  <a:extLst>
                    <a:ext uri="{9D8B030D-6E8A-4147-A177-3AD203B41FA5}">
                      <a16:colId xmlns:a16="http://schemas.microsoft.com/office/drawing/2014/main" val="3768779981"/>
                    </a:ext>
                  </a:extLst>
                </a:gridCol>
                <a:gridCol w="268675">
                  <a:extLst>
                    <a:ext uri="{9D8B030D-6E8A-4147-A177-3AD203B41FA5}">
                      <a16:colId xmlns:a16="http://schemas.microsoft.com/office/drawing/2014/main" val="1626313198"/>
                    </a:ext>
                  </a:extLst>
                </a:gridCol>
                <a:gridCol w="268675">
                  <a:extLst>
                    <a:ext uri="{9D8B030D-6E8A-4147-A177-3AD203B41FA5}">
                      <a16:colId xmlns:a16="http://schemas.microsoft.com/office/drawing/2014/main" val="4193715377"/>
                    </a:ext>
                  </a:extLst>
                </a:gridCol>
              </a:tblGrid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450425"/>
                  </a:ext>
                </a:extLst>
              </a:tr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31039"/>
                  </a:ext>
                </a:extLst>
              </a:tr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531848"/>
                  </a:ext>
                </a:extLst>
              </a:tr>
            </a:tbl>
          </a:graphicData>
        </a:graphic>
      </p:graphicFrame>
      <p:sp>
        <p:nvSpPr>
          <p:cNvPr id="55" name="文字方塊 54">
            <a:extLst>
              <a:ext uri="{FF2B5EF4-FFF2-40B4-BE49-F238E27FC236}">
                <a16:creationId xmlns:a16="http://schemas.microsoft.com/office/drawing/2014/main" id="{2CEFC6B5-9D2F-D64D-88C5-9E31B2630D0C}"/>
              </a:ext>
            </a:extLst>
          </p:cNvPr>
          <p:cNvSpPr txBox="1"/>
          <p:nvPr/>
        </p:nvSpPr>
        <p:spPr>
          <a:xfrm>
            <a:off x="4554795" y="2649334"/>
            <a:ext cx="9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Matrix B</a:t>
            </a:r>
            <a:endParaRPr kumimoji="1" lang="zh-TW" altLang="en-US" dirty="0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31BC9140-17D2-1C47-ACC6-922B56C24782}"/>
              </a:ext>
            </a:extLst>
          </p:cNvPr>
          <p:cNvSpPr/>
          <p:nvPr/>
        </p:nvSpPr>
        <p:spPr>
          <a:xfrm>
            <a:off x="5321110" y="2957723"/>
            <a:ext cx="259002" cy="288034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7" name="向右箭號 56">
            <a:extLst>
              <a:ext uri="{FF2B5EF4-FFF2-40B4-BE49-F238E27FC236}">
                <a16:creationId xmlns:a16="http://schemas.microsoft.com/office/drawing/2014/main" id="{961753E1-7444-6C47-983D-54A955AC9161}"/>
              </a:ext>
            </a:extLst>
          </p:cNvPr>
          <p:cNvSpPr/>
          <p:nvPr/>
        </p:nvSpPr>
        <p:spPr>
          <a:xfrm>
            <a:off x="4612714" y="3113895"/>
            <a:ext cx="670070" cy="1582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graphicFrame>
        <p:nvGraphicFramePr>
          <p:cNvPr id="58" name="表格 3">
            <a:extLst>
              <a:ext uri="{FF2B5EF4-FFF2-40B4-BE49-F238E27FC236}">
                <a16:creationId xmlns:a16="http://schemas.microsoft.com/office/drawing/2014/main" id="{964BD9CD-0581-5B48-A0D0-CD77CEBC29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1933813"/>
              </p:ext>
            </p:extLst>
          </p:nvPr>
        </p:nvGraphicFramePr>
        <p:xfrm>
          <a:off x="5929519" y="2955928"/>
          <a:ext cx="1434866" cy="14859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6973">
                  <a:extLst>
                    <a:ext uri="{9D8B030D-6E8A-4147-A177-3AD203B41FA5}">
                      <a16:colId xmlns:a16="http://schemas.microsoft.com/office/drawing/2014/main" val="3768779981"/>
                    </a:ext>
                  </a:extLst>
                </a:gridCol>
                <a:gridCol w="286973">
                  <a:extLst>
                    <a:ext uri="{9D8B030D-6E8A-4147-A177-3AD203B41FA5}">
                      <a16:colId xmlns:a16="http://schemas.microsoft.com/office/drawing/2014/main" val="1626313198"/>
                    </a:ext>
                  </a:extLst>
                </a:gridCol>
                <a:gridCol w="291465">
                  <a:extLst>
                    <a:ext uri="{9D8B030D-6E8A-4147-A177-3AD203B41FA5}">
                      <a16:colId xmlns:a16="http://schemas.microsoft.com/office/drawing/2014/main" val="439155643"/>
                    </a:ext>
                  </a:extLst>
                </a:gridCol>
                <a:gridCol w="282482">
                  <a:extLst>
                    <a:ext uri="{9D8B030D-6E8A-4147-A177-3AD203B41FA5}">
                      <a16:colId xmlns:a16="http://schemas.microsoft.com/office/drawing/2014/main" val="4077580916"/>
                    </a:ext>
                  </a:extLst>
                </a:gridCol>
                <a:gridCol w="286973">
                  <a:extLst>
                    <a:ext uri="{9D8B030D-6E8A-4147-A177-3AD203B41FA5}">
                      <a16:colId xmlns:a16="http://schemas.microsoft.com/office/drawing/2014/main" val="3637269662"/>
                    </a:ext>
                  </a:extLst>
                </a:gridCol>
              </a:tblGrid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450425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31039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531848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8840822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6355077"/>
                  </a:ext>
                </a:extLst>
              </a:tr>
            </a:tbl>
          </a:graphicData>
        </a:graphic>
      </p:graphicFrame>
      <p:sp>
        <p:nvSpPr>
          <p:cNvPr id="59" name="文字方塊 58">
            <a:extLst>
              <a:ext uri="{FF2B5EF4-FFF2-40B4-BE49-F238E27FC236}">
                <a16:creationId xmlns:a16="http://schemas.microsoft.com/office/drawing/2014/main" id="{019D8DDE-730B-6746-8E9D-8B2FE54E2D35}"/>
              </a:ext>
            </a:extLst>
          </p:cNvPr>
          <p:cNvSpPr txBox="1"/>
          <p:nvPr/>
        </p:nvSpPr>
        <p:spPr>
          <a:xfrm>
            <a:off x="5870748" y="2628609"/>
            <a:ext cx="985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Matrix A</a:t>
            </a:r>
            <a:endParaRPr kumimoji="1" lang="zh-TW" altLang="en-US" dirty="0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72F26F1A-AB36-A14C-AD98-8B3C1EC212EB}"/>
              </a:ext>
            </a:extLst>
          </p:cNvPr>
          <p:cNvSpPr/>
          <p:nvPr/>
        </p:nvSpPr>
        <p:spPr>
          <a:xfrm>
            <a:off x="6488761" y="3247894"/>
            <a:ext cx="862307" cy="9011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F56C19F9-B71D-F449-8ACE-F44ABE4031B9}"/>
              </a:ext>
            </a:extLst>
          </p:cNvPr>
          <p:cNvSpPr txBox="1"/>
          <p:nvPr/>
        </p:nvSpPr>
        <p:spPr>
          <a:xfrm>
            <a:off x="7455790" y="4091125"/>
            <a:ext cx="1292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Iteration 5</a:t>
            </a:r>
            <a:endParaRPr kumimoji="1" lang="zh-TW" altLang="en-US" dirty="0"/>
          </a:p>
        </p:txBody>
      </p:sp>
      <p:graphicFrame>
        <p:nvGraphicFramePr>
          <p:cNvPr id="62" name="表格 3">
            <a:extLst>
              <a:ext uri="{FF2B5EF4-FFF2-40B4-BE49-F238E27FC236}">
                <a16:creationId xmlns:a16="http://schemas.microsoft.com/office/drawing/2014/main" id="{A0365A2D-1B0B-CA44-AF76-640FDFE74108}"/>
              </a:ext>
            </a:extLst>
          </p:cNvPr>
          <p:cNvGraphicFramePr>
            <a:graphicFrameLocks noGrp="1"/>
          </p:cNvGraphicFramePr>
          <p:nvPr/>
        </p:nvGraphicFramePr>
        <p:xfrm>
          <a:off x="7563392" y="2953788"/>
          <a:ext cx="806025" cy="8915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8675">
                  <a:extLst>
                    <a:ext uri="{9D8B030D-6E8A-4147-A177-3AD203B41FA5}">
                      <a16:colId xmlns:a16="http://schemas.microsoft.com/office/drawing/2014/main" val="3768779981"/>
                    </a:ext>
                  </a:extLst>
                </a:gridCol>
                <a:gridCol w="268675">
                  <a:extLst>
                    <a:ext uri="{9D8B030D-6E8A-4147-A177-3AD203B41FA5}">
                      <a16:colId xmlns:a16="http://schemas.microsoft.com/office/drawing/2014/main" val="1626313198"/>
                    </a:ext>
                  </a:extLst>
                </a:gridCol>
                <a:gridCol w="268675">
                  <a:extLst>
                    <a:ext uri="{9D8B030D-6E8A-4147-A177-3AD203B41FA5}">
                      <a16:colId xmlns:a16="http://schemas.microsoft.com/office/drawing/2014/main" val="4193715377"/>
                    </a:ext>
                  </a:extLst>
                </a:gridCol>
              </a:tblGrid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450425"/>
                  </a:ext>
                </a:extLst>
              </a:tr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31039"/>
                  </a:ext>
                </a:extLst>
              </a:tr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531848"/>
                  </a:ext>
                </a:extLst>
              </a:tr>
            </a:tbl>
          </a:graphicData>
        </a:graphic>
      </p:graphicFrame>
      <p:sp>
        <p:nvSpPr>
          <p:cNvPr id="63" name="文字方塊 62">
            <a:extLst>
              <a:ext uri="{FF2B5EF4-FFF2-40B4-BE49-F238E27FC236}">
                <a16:creationId xmlns:a16="http://schemas.microsoft.com/office/drawing/2014/main" id="{BA748810-A132-DE43-AC28-8F8F286E1D09}"/>
              </a:ext>
            </a:extLst>
          </p:cNvPr>
          <p:cNvSpPr txBox="1"/>
          <p:nvPr/>
        </p:nvSpPr>
        <p:spPr>
          <a:xfrm>
            <a:off x="7378083" y="2633143"/>
            <a:ext cx="9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Matrix B</a:t>
            </a:r>
            <a:endParaRPr kumimoji="1" lang="zh-TW" altLang="en-US" dirty="0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D347C628-6A7A-8043-89C2-1C625C6F9011}"/>
              </a:ext>
            </a:extLst>
          </p:cNvPr>
          <p:cNvSpPr/>
          <p:nvPr/>
        </p:nvSpPr>
        <p:spPr>
          <a:xfrm>
            <a:off x="8100179" y="3245755"/>
            <a:ext cx="259002" cy="288034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5" name="向右箭號 64">
            <a:extLst>
              <a:ext uri="{FF2B5EF4-FFF2-40B4-BE49-F238E27FC236}">
                <a16:creationId xmlns:a16="http://schemas.microsoft.com/office/drawing/2014/main" id="{7C08A00F-7D3C-1741-B30F-F09B19311324}"/>
              </a:ext>
            </a:extLst>
          </p:cNvPr>
          <p:cNvSpPr/>
          <p:nvPr/>
        </p:nvSpPr>
        <p:spPr>
          <a:xfrm>
            <a:off x="7416414" y="3401086"/>
            <a:ext cx="670070" cy="1582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graphicFrame>
        <p:nvGraphicFramePr>
          <p:cNvPr id="66" name="表格 3">
            <a:extLst>
              <a:ext uri="{FF2B5EF4-FFF2-40B4-BE49-F238E27FC236}">
                <a16:creationId xmlns:a16="http://schemas.microsoft.com/office/drawing/2014/main" id="{C2373938-3CE7-8240-9E0D-6B1DDAF9E891}"/>
              </a:ext>
            </a:extLst>
          </p:cNvPr>
          <p:cNvGraphicFramePr>
            <a:graphicFrameLocks noGrp="1"/>
          </p:cNvGraphicFramePr>
          <p:nvPr/>
        </p:nvGraphicFramePr>
        <p:xfrm>
          <a:off x="309425" y="4787528"/>
          <a:ext cx="1434870" cy="14859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6974">
                  <a:extLst>
                    <a:ext uri="{9D8B030D-6E8A-4147-A177-3AD203B41FA5}">
                      <a16:colId xmlns:a16="http://schemas.microsoft.com/office/drawing/2014/main" val="3768779981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1626313198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439155643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4077580916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3637269662"/>
                    </a:ext>
                  </a:extLst>
                </a:gridCol>
              </a:tblGrid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450425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31039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531848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8840822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6355077"/>
                  </a:ext>
                </a:extLst>
              </a:tr>
            </a:tbl>
          </a:graphicData>
        </a:graphic>
      </p:graphicFrame>
      <p:sp>
        <p:nvSpPr>
          <p:cNvPr id="67" name="文字方塊 66">
            <a:extLst>
              <a:ext uri="{FF2B5EF4-FFF2-40B4-BE49-F238E27FC236}">
                <a16:creationId xmlns:a16="http://schemas.microsoft.com/office/drawing/2014/main" id="{44AF50B0-26A5-7C49-8E3B-D0B6679AAB76}"/>
              </a:ext>
            </a:extLst>
          </p:cNvPr>
          <p:cNvSpPr txBox="1"/>
          <p:nvPr/>
        </p:nvSpPr>
        <p:spPr>
          <a:xfrm>
            <a:off x="250654" y="4460209"/>
            <a:ext cx="985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Matrix A</a:t>
            </a:r>
            <a:endParaRPr kumimoji="1" lang="zh-TW" altLang="en-US" dirty="0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FF78C232-4A48-EC44-A51D-A8E80562A9BA}"/>
              </a:ext>
            </a:extLst>
          </p:cNvPr>
          <p:cNvSpPr/>
          <p:nvPr/>
        </p:nvSpPr>
        <p:spPr>
          <a:xfrm>
            <a:off x="325317" y="5375355"/>
            <a:ext cx="862307" cy="9011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326AC12F-7B02-694A-B8AB-0E8D9992E8A0}"/>
              </a:ext>
            </a:extLst>
          </p:cNvPr>
          <p:cNvSpPr txBox="1"/>
          <p:nvPr/>
        </p:nvSpPr>
        <p:spPr>
          <a:xfrm>
            <a:off x="1835696" y="5922725"/>
            <a:ext cx="1292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Iteration 6</a:t>
            </a:r>
            <a:endParaRPr kumimoji="1" lang="zh-TW" altLang="en-US" dirty="0"/>
          </a:p>
        </p:txBody>
      </p:sp>
      <p:graphicFrame>
        <p:nvGraphicFramePr>
          <p:cNvPr id="70" name="表格 3">
            <a:extLst>
              <a:ext uri="{FF2B5EF4-FFF2-40B4-BE49-F238E27FC236}">
                <a16:creationId xmlns:a16="http://schemas.microsoft.com/office/drawing/2014/main" id="{616C9D67-ACAF-0E44-B0D6-4B399001E588}"/>
              </a:ext>
            </a:extLst>
          </p:cNvPr>
          <p:cNvGraphicFramePr>
            <a:graphicFrameLocks noGrp="1"/>
          </p:cNvGraphicFramePr>
          <p:nvPr/>
        </p:nvGraphicFramePr>
        <p:xfrm>
          <a:off x="1943298" y="4785388"/>
          <a:ext cx="806025" cy="8915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8675">
                  <a:extLst>
                    <a:ext uri="{9D8B030D-6E8A-4147-A177-3AD203B41FA5}">
                      <a16:colId xmlns:a16="http://schemas.microsoft.com/office/drawing/2014/main" val="3768779981"/>
                    </a:ext>
                  </a:extLst>
                </a:gridCol>
                <a:gridCol w="268675">
                  <a:extLst>
                    <a:ext uri="{9D8B030D-6E8A-4147-A177-3AD203B41FA5}">
                      <a16:colId xmlns:a16="http://schemas.microsoft.com/office/drawing/2014/main" val="1626313198"/>
                    </a:ext>
                  </a:extLst>
                </a:gridCol>
                <a:gridCol w="268675">
                  <a:extLst>
                    <a:ext uri="{9D8B030D-6E8A-4147-A177-3AD203B41FA5}">
                      <a16:colId xmlns:a16="http://schemas.microsoft.com/office/drawing/2014/main" val="4193715377"/>
                    </a:ext>
                  </a:extLst>
                </a:gridCol>
              </a:tblGrid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450425"/>
                  </a:ext>
                </a:extLst>
              </a:tr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31039"/>
                  </a:ext>
                </a:extLst>
              </a:tr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531848"/>
                  </a:ext>
                </a:extLst>
              </a:tr>
            </a:tbl>
          </a:graphicData>
        </a:graphic>
      </p:graphicFrame>
      <p:sp>
        <p:nvSpPr>
          <p:cNvPr id="71" name="文字方塊 70">
            <a:extLst>
              <a:ext uri="{FF2B5EF4-FFF2-40B4-BE49-F238E27FC236}">
                <a16:creationId xmlns:a16="http://schemas.microsoft.com/office/drawing/2014/main" id="{882BA3E6-0015-2742-A47C-94CC0BB82BEC}"/>
              </a:ext>
            </a:extLst>
          </p:cNvPr>
          <p:cNvSpPr txBox="1"/>
          <p:nvPr/>
        </p:nvSpPr>
        <p:spPr>
          <a:xfrm>
            <a:off x="1757989" y="4464743"/>
            <a:ext cx="9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Matrix B</a:t>
            </a:r>
            <a:endParaRPr kumimoji="1" lang="zh-TW" altLang="en-US" dirty="0"/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CCF72D5E-0B8A-F040-90BA-63F233A39034}"/>
              </a:ext>
            </a:extLst>
          </p:cNvPr>
          <p:cNvSpPr/>
          <p:nvPr/>
        </p:nvSpPr>
        <p:spPr>
          <a:xfrm>
            <a:off x="1936735" y="5373216"/>
            <a:ext cx="259002" cy="288034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3" name="向右箭號 72">
            <a:extLst>
              <a:ext uri="{FF2B5EF4-FFF2-40B4-BE49-F238E27FC236}">
                <a16:creationId xmlns:a16="http://schemas.microsoft.com/office/drawing/2014/main" id="{9B357B41-1663-0041-9F20-65C8664CE764}"/>
              </a:ext>
            </a:extLst>
          </p:cNvPr>
          <p:cNvSpPr/>
          <p:nvPr/>
        </p:nvSpPr>
        <p:spPr>
          <a:xfrm>
            <a:off x="1252970" y="5528547"/>
            <a:ext cx="670070" cy="1582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graphicFrame>
        <p:nvGraphicFramePr>
          <p:cNvPr id="74" name="表格 3">
            <a:extLst>
              <a:ext uri="{FF2B5EF4-FFF2-40B4-BE49-F238E27FC236}">
                <a16:creationId xmlns:a16="http://schemas.microsoft.com/office/drawing/2014/main" id="{539F082B-A13D-F741-98FD-1934A652BC87}"/>
              </a:ext>
            </a:extLst>
          </p:cNvPr>
          <p:cNvGraphicFramePr>
            <a:graphicFrameLocks noGrp="1"/>
          </p:cNvGraphicFramePr>
          <p:nvPr/>
        </p:nvGraphicFramePr>
        <p:xfrm>
          <a:off x="3106231" y="4782397"/>
          <a:ext cx="1434870" cy="14859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6974">
                  <a:extLst>
                    <a:ext uri="{9D8B030D-6E8A-4147-A177-3AD203B41FA5}">
                      <a16:colId xmlns:a16="http://schemas.microsoft.com/office/drawing/2014/main" val="3768779981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1626313198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439155643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4077580916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3637269662"/>
                    </a:ext>
                  </a:extLst>
                </a:gridCol>
              </a:tblGrid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450425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31039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531848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8840822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6355077"/>
                  </a:ext>
                </a:extLst>
              </a:tr>
            </a:tbl>
          </a:graphicData>
        </a:graphic>
      </p:graphicFrame>
      <p:sp>
        <p:nvSpPr>
          <p:cNvPr id="75" name="文字方塊 74">
            <a:extLst>
              <a:ext uri="{FF2B5EF4-FFF2-40B4-BE49-F238E27FC236}">
                <a16:creationId xmlns:a16="http://schemas.microsoft.com/office/drawing/2014/main" id="{85BF5A10-64D5-B642-A787-FD3D821106B1}"/>
              </a:ext>
            </a:extLst>
          </p:cNvPr>
          <p:cNvSpPr txBox="1"/>
          <p:nvPr/>
        </p:nvSpPr>
        <p:spPr>
          <a:xfrm>
            <a:off x="2932687" y="4455078"/>
            <a:ext cx="985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Matrix A</a:t>
            </a:r>
            <a:endParaRPr kumimoji="1" lang="zh-TW" altLang="en-US" dirty="0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FB0DDA78-EBA2-714D-B0C6-96BA3D7956D6}"/>
              </a:ext>
            </a:extLst>
          </p:cNvPr>
          <p:cNvSpPr/>
          <p:nvPr/>
        </p:nvSpPr>
        <p:spPr>
          <a:xfrm>
            <a:off x="3392418" y="5391546"/>
            <a:ext cx="862307" cy="9011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7" name="文字方塊 76">
            <a:extLst>
              <a:ext uri="{FF2B5EF4-FFF2-40B4-BE49-F238E27FC236}">
                <a16:creationId xmlns:a16="http://schemas.microsoft.com/office/drawing/2014/main" id="{C403E488-5172-8342-8424-D52BE115A784}"/>
              </a:ext>
            </a:extLst>
          </p:cNvPr>
          <p:cNvSpPr txBox="1"/>
          <p:nvPr/>
        </p:nvSpPr>
        <p:spPr>
          <a:xfrm>
            <a:off x="4632502" y="5917594"/>
            <a:ext cx="1292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Iteration 7</a:t>
            </a:r>
            <a:endParaRPr kumimoji="1" lang="zh-TW" altLang="en-US" dirty="0"/>
          </a:p>
        </p:txBody>
      </p:sp>
      <p:graphicFrame>
        <p:nvGraphicFramePr>
          <p:cNvPr id="78" name="表格 3">
            <a:extLst>
              <a:ext uri="{FF2B5EF4-FFF2-40B4-BE49-F238E27FC236}">
                <a16:creationId xmlns:a16="http://schemas.microsoft.com/office/drawing/2014/main" id="{2539E1CA-C9C3-354F-9E23-67CF2F26D48D}"/>
              </a:ext>
            </a:extLst>
          </p:cNvPr>
          <p:cNvGraphicFramePr>
            <a:graphicFrameLocks noGrp="1"/>
          </p:cNvGraphicFramePr>
          <p:nvPr/>
        </p:nvGraphicFramePr>
        <p:xfrm>
          <a:off x="4740104" y="4780257"/>
          <a:ext cx="806025" cy="8915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8675">
                  <a:extLst>
                    <a:ext uri="{9D8B030D-6E8A-4147-A177-3AD203B41FA5}">
                      <a16:colId xmlns:a16="http://schemas.microsoft.com/office/drawing/2014/main" val="3768779981"/>
                    </a:ext>
                  </a:extLst>
                </a:gridCol>
                <a:gridCol w="268675">
                  <a:extLst>
                    <a:ext uri="{9D8B030D-6E8A-4147-A177-3AD203B41FA5}">
                      <a16:colId xmlns:a16="http://schemas.microsoft.com/office/drawing/2014/main" val="1626313198"/>
                    </a:ext>
                  </a:extLst>
                </a:gridCol>
                <a:gridCol w="268675">
                  <a:extLst>
                    <a:ext uri="{9D8B030D-6E8A-4147-A177-3AD203B41FA5}">
                      <a16:colId xmlns:a16="http://schemas.microsoft.com/office/drawing/2014/main" val="4193715377"/>
                    </a:ext>
                  </a:extLst>
                </a:gridCol>
              </a:tblGrid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450425"/>
                  </a:ext>
                </a:extLst>
              </a:tr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31039"/>
                  </a:ext>
                </a:extLst>
              </a:tr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531848"/>
                  </a:ext>
                </a:extLst>
              </a:tr>
            </a:tbl>
          </a:graphicData>
        </a:graphic>
      </p:graphicFrame>
      <p:sp>
        <p:nvSpPr>
          <p:cNvPr id="79" name="文字方塊 78">
            <a:extLst>
              <a:ext uri="{FF2B5EF4-FFF2-40B4-BE49-F238E27FC236}">
                <a16:creationId xmlns:a16="http://schemas.microsoft.com/office/drawing/2014/main" id="{96C18BFF-12FF-7C47-9504-0208AF9127EB}"/>
              </a:ext>
            </a:extLst>
          </p:cNvPr>
          <p:cNvSpPr txBox="1"/>
          <p:nvPr/>
        </p:nvSpPr>
        <p:spPr>
          <a:xfrm>
            <a:off x="4554795" y="4459612"/>
            <a:ext cx="9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Matrix B</a:t>
            </a:r>
            <a:endParaRPr kumimoji="1" lang="zh-TW" altLang="en-US" dirty="0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27AC5D2E-9C6C-124B-9789-6792AD5C6C4C}"/>
              </a:ext>
            </a:extLst>
          </p:cNvPr>
          <p:cNvSpPr/>
          <p:nvPr/>
        </p:nvSpPr>
        <p:spPr>
          <a:xfrm>
            <a:off x="5003835" y="5389407"/>
            <a:ext cx="259002" cy="288034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1" name="向右箭號 80">
            <a:extLst>
              <a:ext uri="{FF2B5EF4-FFF2-40B4-BE49-F238E27FC236}">
                <a16:creationId xmlns:a16="http://schemas.microsoft.com/office/drawing/2014/main" id="{BC2D1B0E-62AA-3C49-ACA8-32EF20557B1B}"/>
              </a:ext>
            </a:extLst>
          </p:cNvPr>
          <p:cNvSpPr/>
          <p:nvPr/>
        </p:nvSpPr>
        <p:spPr>
          <a:xfrm>
            <a:off x="4295439" y="5545579"/>
            <a:ext cx="670070" cy="1582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graphicFrame>
        <p:nvGraphicFramePr>
          <p:cNvPr id="82" name="表格 3">
            <a:extLst>
              <a:ext uri="{FF2B5EF4-FFF2-40B4-BE49-F238E27FC236}">
                <a16:creationId xmlns:a16="http://schemas.microsoft.com/office/drawing/2014/main" id="{E3D159CF-9A14-F74F-814C-03F6250D3640}"/>
              </a:ext>
            </a:extLst>
          </p:cNvPr>
          <p:cNvGraphicFramePr>
            <a:graphicFrameLocks noGrp="1"/>
          </p:cNvGraphicFramePr>
          <p:nvPr/>
        </p:nvGraphicFramePr>
        <p:xfrm>
          <a:off x="5929519" y="4766206"/>
          <a:ext cx="1434870" cy="14859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6974">
                  <a:extLst>
                    <a:ext uri="{9D8B030D-6E8A-4147-A177-3AD203B41FA5}">
                      <a16:colId xmlns:a16="http://schemas.microsoft.com/office/drawing/2014/main" val="3768779981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1626313198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439155643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4077580916"/>
                    </a:ext>
                  </a:extLst>
                </a:gridCol>
                <a:gridCol w="286974">
                  <a:extLst>
                    <a:ext uri="{9D8B030D-6E8A-4147-A177-3AD203B41FA5}">
                      <a16:colId xmlns:a16="http://schemas.microsoft.com/office/drawing/2014/main" val="3637269662"/>
                    </a:ext>
                  </a:extLst>
                </a:gridCol>
              </a:tblGrid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450425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31039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531848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8840822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6355077"/>
                  </a:ext>
                </a:extLst>
              </a:tr>
            </a:tbl>
          </a:graphicData>
        </a:graphic>
      </p:graphicFrame>
      <p:sp>
        <p:nvSpPr>
          <p:cNvPr id="83" name="文字方塊 82">
            <a:extLst>
              <a:ext uri="{FF2B5EF4-FFF2-40B4-BE49-F238E27FC236}">
                <a16:creationId xmlns:a16="http://schemas.microsoft.com/office/drawing/2014/main" id="{B2C0C652-3F31-AA4A-9273-75EFB5AAC22B}"/>
              </a:ext>
            </a:extLst>
          </p:cNvPr>
          <p:cNvSpPr txBox="1"/>
          <p:nvPr/>
        </p:nvSpPr>
        <p:spPr>
          <a:xfrm>
            <a:off x="5870748" y="4438887"/>
            <a:ext cx="985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Matrix A</a:t>
            </a:r>
            <a:endParaRPr kumimoji="1" lang="zh-TW" altLang="en-US" dirty="0"/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223C9B2A-C0F0-8745-B8C4-6259B1C02DBE}"/>
              </a:ext>
            </a:extLst>
          </p:cNvPr>
          <p:cNvSpPr/>
          <p:nvPr/>
        </p:nvSpPr>
        <p:spPr>
          <a:xfrm>
            <a:off x="6488761" y="5375355"/>
            <a:ext cx="862307" cy="9011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5" name="文字方塊 84">
            <a:extLst>
              <a:ext uri="{FF2B5EF4-FFF2-40B4-BE49-F238E27FC236}">
                <a16:creationId xmlns:a16="http://schemas.microsoft.com/office/drawing/2014/main" id="{37F8124C-FA44-5E45-AF14-AAC85C47C00A}"/>
              </a:ext>
            </a:extLst>
          </p:cNvPr>
          <p:cNvSpPr txBox="1"/>
          <p:nvPr/>
        </p:nvSpPr>
        <p:spPr>
          <a:xfrm>
            <a:off x="7455790" y="5901403"/>
            <a:ext cx="1292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Iteration 8</a:t>
            </a:r>
            <a:endParaRPr kumimoji="1" lang="zh-TW" altLang="en-US" dirty="0"/>
          </a:p>
        </p:txBody>
      </p:sp>
      <p:graphicFrame>
        <p:nvGraphicFramePr>
          <p:cNvPr id="86" name="表格 3">
            <a:extLst>
              <a:ext uri="{FF2B5EF4-FFF2-40B4-BE49-F238E27FC236}">
                <a16:creationId xmlns:a16="http://schemas.microsoft.com/office/drawing/2014/main" id="{8695D85A-B509-E040-86BE-E8D7689CD7FD}"/>
              </a:ext>
            </a:extLst>
          </p:cNvPr>
          <p:cNvGraphicFramePr>
            <a:graphicFrameLocks noGrp="1"/>
          </p:cNvGraphicFramePr>
          <p:nvPr/>
        </p:nvGraphicFramePr>
        <p:xfrm>
          <a:off x="7563392" y="4764066"/>
          <a:ext cx="806025" cy="8915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8675">
                  <a:extLst>
                    <a:ext uri="{9D8B030D-6E8A-4147-A177-3AD203B41FA5}">
                      <a16:colId xmlns:a16="http://schemas.microsoft.com/office/drawing/2014/main" val="3768779981"/>
                    </a:ext>
                  </a:extLst>
                </a:gridCol>
                <a:gridCol w="268675">
                  <a:extLst>
                    <a:ext uri="{9D8B030D-6E8A-4147-A177-3AD203B41FA5}">
                      <a16:colId xmlns:a16="http://schemas.microsoft.com/office/drawing/2014/main" val="1626313198"/>
                    </a:ext>
                  </a:extLst>
                </a:gridCol>
                <a:gridCol w="268675">
                  <a:extLst>
                    <a:ext uri="{9D8B030D-6E8A-4147-A177-3AD203B41FA5}">
                      <a16:colId xmlns:a16="http://schemas.microsoft.com/office/drawing/2014/main" val="4193715377"/>
                    </a:ext>
                  </a:extLst>
                </a:gridCol>
              </a:tblGrid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450425"/>
                  </a:ext>
                </a:extLst>
              </a:tr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31039"/>
                  </a:ext>
                </a:extLst>
              </a:tr>
              <a:tr h="26586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531848"/>
                  </a:ext>
                </a:extLst>
              </a:tr>
            </a:tbl>
          </a:graphicData>
        </a:graphic>
      </p:graphicFrame>
      <p:sp>
        <p:nvSpPr>
          <p:cNvPr id="87" name="文字方塊 86">
            <a:extLst>
              <a:ext uri="{FF2B5EF4-FFF2-40B4-BE49-F238E27FC236}">
                <a16:creationId xmlns:a16="http://schemas.microsoft.com/office/drawing/2014/main" id="{E0C0D5E8-CFF0-644D-8A2B-C1C26AFA1260}"/>
              </a:ext>
            </a:extLst>
          </p:cNvPr>
          <p:cNvSpPr txBox="1"/>
          <p:nvPr/>
        </p:nvSpPr>
        <p:spPr>
          <a:xfrm>
            <a:off x="7378083" y="4443421"/>
            <a:ext cx="9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Matrix B</a:t>
            </a:r>
            <a:endParaRPr kumimoji="1" lang="zh-TW" altLang="en-US" dirty="0"/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5A3E9E0E-5F85-A04E-859F-A7E6829CB48B}"/>
              </a:ext>
            </a:extLst>
          </p:cNvPr>
          <p:cNvSpPr/>
          <p:nvPr/>
        </p:nvSpPr>
        <p:spPr>
          <a:xfrm>
            <a:off x="8100179" y="5373216"/>
            <a:ext cx="259002" cy="288034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9" name="向右箭號 88">
            <a:extLst>
              <a:ext uri="{FF2B5EF4-FFF2-40B4-BE49-F238E27FC236}">
                <a16:creationId xmlns:a16="http://schemas.microsoft.com/office/drawing/2014/main" id="{4454D605-62AF-7C49-B418-CBD038585540}"/>
              </a:ext>
            </a:extLst>
          </p:cNvPr>
          <p:cNvSpPr/>
          <p:nvPr/>
        </p:nvSpPr>
        <p:spPr>
          <a:xfrm>
            <a:off x="7416414" y="5528547"/>
            <a:ext cx="670070" cy="1582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72010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0A0B8975DEDD9D408BDB2D49647FBEFA" ma:contentTypeVersion="8" ma:contentTypeDescription="建立新的文件。" ma:contentTypeScope="" ma:versionID="c3e9c9b551e6b458d199f6a24546cab6">
  <xsd:schema xmlns:xsd="http://www.w3.org/2001/XMLSchema" xmlns:xs="http://www.w3.org/2001/XMLSchema" xmlns:p="http://schemas.microsoft.com/office/2006/metadata/properties" xmlns:ns2="477e5f7e-ea82-413e-9bbb-451b4cd0aa07" xmlns:ns3="69b20e69-3800-4946-ab55-03745fe7b1f9" targetNamespace="http://schemas.microsoft.com/office/2006/metadata/properties" ma:root="true" ma:fieldsID="bd37543be0e031847c4f393f6336614a" ns2:_="" ns3:_="">
    <xsd:import namespace="477e5f7e-ea82-413e-9bbb-451b4cd0aa07"/>
    <xsd:import namespace="69b20e69-3800-4946-ab55-03745fe7b1f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7e5f7e-ea82-413e-9bbb-451b4cd0aa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b20e69-3800-4946-ab55-03745fe7b1f9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29E9D11-1462-48A3-BE95-17F3D8FEC63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77e5f7e-ea82-413e-9bbb-451b4cd0aa07"/>
    <ds:schemaRef ds:uri="69b20e69-3800-4946-ab55-03745fe7b1f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DA0EF10-9D85-468C-9514-89AA817D277A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03A94C4-3BD1-490D-875B-AEE18186A25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28485</TotalTime>
  <Words>403</Words>
  <Application>Microsoft Office PowerPoint</Application>
  <PresentationFormat>如螢幕大小 (4:3)</PresentationFormat>
  <Paragraphs>119</Paragraphs>
  <Slides>4</Slides>
  <Notes>4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5" baseType="lpstr">
      <vt:lpstr>Office 佈景主題</vt:lpstr>
      <vt:lpstr>One Data Kernel Computation</vt:lpstr>
      <vt:lpstr>Kernel Computation Scan Pattern A (Row-based)  </vt:lpstr>
      <vt:lpstr>Kernel Computation Scan Pattern B (Column-based)  </vt:lpstr>
      <vt:lpstr>Kernel Computation Scan Pattern C (Block-based)  </vt:lpstr>
    </vt:vector>
  </TitlesOfParts>
  <Company>Ashenden Designs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5</dc:title>
  <dc:creator>Peter Ashenden</dc:creator>
  <cp:lastModifiedBy>劉靖家</cp:lastModifiedBy>
  <cp:revision>372</cp:revision>
  <dcterms:created xsi:type="dcterms:W3CDTF">2008-08-25T10:09:57Z</dcterms:created>
  <dcterms:modified xsi:type="dcterms:W3CDTF">2021-01-02T13:37:23Z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0x0101000A0B8975DEDD9D408BDB2D49647FBEFA</vt:lpwstr>
  </property>
</Properties>
</file>